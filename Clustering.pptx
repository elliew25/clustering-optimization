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Arial Narrow"/>
      <p:regular r:id="rId21"/>
      <p:bold r:id="rId22"/>
      <p:italic r:id="rId23"/>
      <p:boldItalic r:id="rId24"/>
    </p:embeddedFont>
    <p:embeddedFont>
      <p:font typeface="Just Another Hand"/>
      <p:regular r:id="rId25"/>
    </p:embeddedFont>
    <p:embeddedFont>
      <p:font typeface="Special Elit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rialNarrow-bold.fntdata"/><Relationship Id="rId21" Type="http://schemas.openxmlformats.org/officeDocument/2006/relationships/font" Target="fonts/ArialNarrow-regular.fntdata"/><Relationship Id="rId24" Type="http://schemas.openxmlformats.org/officeDocument/2006/relationships/font" Target="fonts/ArialNarrow-boldItalic.fntdata"/><Relationship Id="rId23" Type="http://schemas.openxmlformats.org/officeDocument/2006/relationships/font" Target="fonts/ArialNarrow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ecialElite-regular.fntdata"/><Relationship Id="rId25" Type="http://schemas.openxmlformats.org/officeDocument/2006/relationships/font" Target="fonts/JustAnotherHa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02cd45d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02cd45df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8fe5da05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8fe5da05d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8f4df3e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d8f4df3e2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8a59c197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8a59c197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02cd45df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e02cd45df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8a59c197c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8a59c197c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8f4df3e2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8f4df3e2e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35.jp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7606" r="3331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4718061" y="813293"/>
            <a:ext cx="8583300" cy="8583300"/>
          </a:xfrm>
          <a:custGeom>
            <a:rect b="b" l="l" r="r" t="t"/>
            <a:pathLst>
              <a:path extrusionOk="0" h="8583300" w="8583300">
                <a:moveTo>
                  <a:pt x="0" y="0"/>
                </a:moveTo>
                <a:lnTo>
                  <a:pt x="8583300" y="0"/>
                </a:lnTo>
                <a:lnTo>
                  <a:pt x="8583300" y="8583300"/>
                </a:lnTo>
                <a:lnTo>
                  <a:pt x="0" y="8583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 rot="121198">
            <a:off x="5086399" y="1223655"/>
            <a:ext cx="7850064" cy="7842714"/>
          </a:xfrm>
          <a:custGeom>
            <a:rect b="b" l="l" r="r" t="t"/>
            <a:pathLst>
              <a:path extrusionOk="0" h="3252216" w="3255264">
                <a:moveTo>
                  <a:pt x="3255264" y="3252216"/>
                </a:moveTo>
                <a:lnTo>
                  <a:pt x="0" y="3252216"/>
                </a:lnTo>
                <a:lnTo>
                  <a:pt x="0" y="0"/>
                </a:lnTo>
                <a:lnTo>
                  <a:pt x="3255264" y="0"/>
                </a:lnTo>
                <a:lnTo>
                  <a:pt x="3255264" y="325221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0" r="-20" t="0"/>
            </a:stretch>
          </a:blipFill>
          <a:ln>
            <a:noFill/>
          </a:ln>
        </p:spPr>
      </p:sp>
      <p:sp>
        <p:nvSpPr>
          <p:cNvPr id="17" name="Google Shape;17;p3"/>
          <p:cNvSpPr/>
          <p:nvPr>
            <p:ph idx="2" type="pic"/>
          </p:nvPr>
        </p:nvSpPr>
        <p:spPr>
          <a:xfrm>
            <a:off x="5787400" y="1882650"/>
            <a:ext cx="6444600" cy="6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/>
          <p:nvPr/>
        </p:nvSpPr>
        <p:spPr>
          <a:xfrm rot="300787">
            <a:off x="3031056" y="6514583"/>
            <a:ext cx="3214669" cy="3271928"/>
          </a:xfrm>
          <a:custGeom>
            <a:rect b="b" l="l" r="r" t="t"/>
            <a:pathLst>
              <a:path extrusionOk="0" h="3267581" w="3210398">
                <a:moveTo>
                  <a:pt x="0" y="0"/>
                </a:moveTo>
                <a:lnTo>
                  <a:pt x="3210399" y="0"/>
                </a:lnTo>
                <a:lnTo>
                  <a:pt x="3210399" y="3267581"/>
                </a:lnTo>
                <a:lnTo>
                  <a:pt x="0" y="3267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 rot="189358">
            <a:off x="7399361" y="591640"/>
            <a:ext cx="3486814" cy="801967"/>
          </a:xfrm>
          <a:custGeom>
            <a:rect b="b" l="l" r="r" t="t"/>
            <a:pathLst>
              <a:path extrusionOk="0" h="802758" w="3490251">
                <a:moveTo>
                  <a:pt x="0" y="0"/>
                </a:moveTo>
                <a:lnTo>
                  <a:pt x="3490252" y="0"/>
                </a:lnTo>
                <a:lnTo>
                  <a:pt x="3490252" y="802758"/>
                </a:lnTo>
                <a:lnTo>
                  <a:pt x="0" y="802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" name="Google Shape;20;p3"/>
          <p:cNvSpPr/>
          <p:nvPr/>
        </p:nvSpPr>
        <p:spPr>
          <a:xfrm rot="6863078">
            <a:off x="11644364" y="7198493"/>
            <a:ext cx="4005000" cy="1892362"/>
          </a:xfrm>
          <a:custGeom>
            <a:rect b="b" l="l" r="r" t="t"/>
            <a:pathLst>
              <a:path extrusionOk="0" h="1894014" w="4008496">
                <a:moveTo>
                  <a:pt x="0" y="0"/>
                </a:moveTo>
                <a:lnTo>
                  <a:pt x="4008495" y="0"/>
                </a:lnTo>
                <a:lnTo>
                  <a:pt x="4008495" y="1894014"/>
                </a:lnTo>
                <a:lnTo>
                  <a:pt x="0" y="1894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" name="Google Shape;21;p3"/>
          <p:cNvSpPr/>
          <p:nvPr/>
        </p:nvSpPr>
        <p:spPr>
          <a:xfrm rot="128855">
            <a:off x="12154675" y="2497567"/>
            <a:ext cx="2462861" cy="2462861"/>
          </a:xfrm>
          <a:custGeom>
            <a:rect b="b" l="l" r="r" t="t"/>
            <a:pathLst>
              <a:path extrusionOk="0" h="2461131" w="2461131">
                <a:moveTo>
                  <a:pt x="0" y="0"/>
                </a:moveTo>
                <a:lnTo>
                  <a:pt x="2461131" y="0"/>
                </a:lnTo>
                <a:lnTo>
                  <a:pt x="2461131" y="2461130"/>
                </a:lnTo>
                <a:lnTo>
                  <a:pt x="0" y="2461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" name="Google Shape;22;p3"/>
          <p:cNvSpPr/>
          <p:nvPr/>
        </p:nvSpPr>
        <p:spPr>
          <a:xfrm rot="612915">
            <a:off x="2783498" y="-4487406"/>
            <a:ext cx="4912081" cy="8236721"/>
          </a:xfrm>
          <a:custGeom>
            <a:rect b="b" l="l" r="r" t="t"/>
            <a:pathLst>
              <a:path extrusionOk="0" h="8229600" w="4907834">
                <a:moveTo>
                  <a:pt x="0" y="0"/>
                </a:moveTo>
                <a:lnTo>
                  <a:pt x="4907834" y="0"/>
                </a:lnTo>
                <a:lnTo>
                  <a:pt x="49078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rot="-552203">
            <a:off x="-62956" y="2329342"/>
            <a:ext cx="7085102" cy="7072220"/>
          </a:xfrm>
          <a:custGeom>
            <a:rect b="b" l="l" r="r" t="t"/>
            <a:pathLst>
              <a:path extrusionOk="0" h="7069547" w="7082424">
                <a:moveTo>
                  <a:pt x="0" y="0"/>
                </a:moveTo>
                <a:lnTo>
                  <a:pt x="7082425" y="0"/>
                </a:lnTo>
                <a:lnTo>
                  <a:pt x="7082425" y="7069547"/>
                </a:lnTo>
                <a:lnTo>
                  <a:pt x="0" y="7069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" name="Google Shape;25;p4"/>
          <p:cNvSpPr/>
          <p:nvPr/>
        </p:nvSpPr>
        <p:spPr>
          <a:xfrm>
            <a:off x="723802" y="536203"/>
            <a:ext cx="6607163" cy="9750797"/>
          </a:xfrm>
          <a:custGeom>
            <a:rect b="b" l="l" r="r" t="t"/>
            <a:pathLst>
              <a:path extrusionOk="0" h="9750797" w="6607163">
                <a:moveTo>
                  <a:pt x="0" y="0"/>
                </a:moveTo>
                <a:lnTo>
                  <a:pt x="6607163" y="0"/>
                </a:lnTo>
                <a:lnTo>
                  <a:pt x="6607163" y="9750797"/>
                </a:lnTo>
                <a:lnTo>
                  <a:pt x="0" y="975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000"/>
            </a:blip>
            <a:stretch>
              <a:fillRect b="0" l="-510" r="-520" t="-2750"/>
            </a:stretch>
          </a:blipFill>
          <a:ln>
            <a:noFill/>
          </a:ln>
        </p:spPr>
      </p:sp>
      <p:sp>
        <p:nvSpPr>
          <p:cNvPr id="26" name="Google Shape;26;p4"/>
          <p:cNvSpPr/>
          <p:nvPr/>
        </p:nvSpPr>
        <p:spPr>
          <a:xfrm>
            <a:off x="5187676" y="4661099"/>
            <a:ext cx="2492409" cy="2398944"/>
          </a:xfrm>
          <a:custGeom>
            <a:rect b="b" l="l" r="r" t="t"/>
            <a:pathLst>
              <a:path extrusionOk="0" h="2398944" w="2492409">
                <a:moveTo>
                  <a:pt x="0" y="0"/>
                </a:moveTo>
                <a:lnTo>
                  <a:pt x="2492409" y="0"/>
                </a:lnTo>
                <a:lnTo>
                  <a:pt x="2492409" y="2398943"/>
                </a:lnTo>
                <a:lnTo>
                  <a:pt x="0" y="2398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" name="Google Shape;27;p4"/>
          <p:cNvSpPr/>
          <p:nvPr/>
        </p:nvSpPr>
        <p:spPr>
          <a:xfrm rot="-387046">
            <a:off x="-1097276" y="1974724"/>
            <a:ext cx="3200074" cy="1032024"/>
          </a:xfrm>
          <a:custGeom>
            <a:rect b="b" l="l" r="r" t="t"/>
            <a:pathLst>
              <a:path extrusionOk="0" h="1030643" w="3195793">
                <a:moveTo>
                  <a:pt x="0" y="0"/>
                </a:moveTo>
                <a:lnTo>
                  <a:pt x="3195793" y="0"/>
                </a:lnTo>
                <a:lnTo>
                  <a:pt x="3195793" y="1030643"/>
                </a:lnTo>
                <a:lnTo>
                  <a:pt x="0" y="1030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8274875" y="4375700"/>
            <a:ext cx="9072300" cy="4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  <a:defRPr i="0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  <a:defRPr i="0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i="0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8274875" y="1352725"/>
            <a:ext cx="8229600" cy="17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ecial Elite"/>
              <a:buNone/>
              <a:defRPr i="0" sz="6000" u="none" cap="none" strike="noStrike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 flipH="1">
            <a:off x="9749822" y="5355590"/>
            <a:ext cx="5353437" cy="4992080"/>
          </a:xfrm>
          <a:custGeom>
            <a:rect b="b" l="l" r="r" t="t"/>
            <a:pathLst>
              <a:path extrusionOk="0" h="4992080" w="5353437">
                <a:moveTo>
                  <a:pt x="5353437" y="0"/>
                </a:moveTo>
                <a:lnTo>
                  <a:pt x="0" y="0"/>
                </a:lnTo>
                <a:lnTo>
                  <a:pt x="0" y="4992080"/>
                </a:lnTo>
                <a:lnTo>
                  <a:pt x="5353437" y="4992080"/>
                </a:lnTo>
                <a:lnTo>
                  <a:pt x="5353437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" name="Google Shape;32;p5"/>
          <p:cNvSpPr/>
          <p:nvPr/>
        </p:nvSpPr>
        <p:spPr>
          <a:xfrm>
            <a:off x="11915717" y="0"/>
            <a:ext cx="6375084" cy="10287000"/>
          </a:xfrm>
          <a:custGeom>
            <a:rect b="b" l="l" r="r" t="t"/>
            <a:pathLst>
              <a:path extrusionOk="0" h="10287000" w="6375084">
                <a:moveTo>
                  <a:pt x="0" y="0"/>
                </a:moveTo>
                <a:lnTo>
                  <a:pt x="6375084" y="0"/>
                </a:lnTo>
                <a:lnTo>
                  <a:pt x="63750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8000"/>
            </a:blip>
            <a:stretch>
              <a:fillRect b="0" l="-61361" r="0" t="0"/>
            </a:stretch>
          </a:blipFill>
          <a:ln>
            <a:noFill/>
          </a:ln>
        </p:spPr>
      </p:sp>
      <p:sp>
        <p:nvSpPr>
          <p:cNvPr id="33" name="Google Shape;33;p5"/>
          <p:cNvSpPr/>
          <p:nvPr/>
        </p:nvSpPr>
        <p:spPr>
          <a:xfrm>
            <a:off x="16477063" y="593772"/>
            <a:ext cx="2063379" cy="2274265"/>
          </a:xfrm>
          <a:custGeom>
            <a:rect b="b" l="l" r="r" t="t"/>
            <a:pathLst>
              <a:path extrusionOk="0" h="2274265" w="2063379">
                <a:moveTo>
                  <a:pt x="0" y="0"/>
                </a:moveTo>
                <a:lnTo>
                  <a:pt x="2063379" y="0"/>
                </a:lnTo>
                <a:lnTo>
                  <a:pt x="2063379" y="2274266"/>
                </a:lnTo>
                <a:lnTo>
                  <a:pt x="0" y="2274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1132650" y="4462438"/>
            <a:ext cx="9072300" cy="4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  <a:defRPr i="0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  <a:defRPr i="0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i="0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type="title"/>
          </p:nvPr>
        </p:nvSpPr>
        <p:spPr>
          <a:xfrm>
            <a:off x="1132650" y="1439462"/>
            <a:ext cx="8229600" cy="17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ecial Elite"/>
              <a:buNone/>
              <a:defRPr i="0" sz="6000" u="none" cap="none" strike="noStrike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 flipH="1">
            <a:off x="-228600" y="-433023"/>
            <a:ext cx="5006947" cy="4114800"/>
          </a:xfrm>
          <a:custGeom>
            <a:rect b="b" l="l" r="r" t="t"/>
            <a:pathLst>
              <a:path extrusionOk="0" h="4114800" w="5006947">
                <a:moveTo>
                  <a:pt x="5006947" y="0"/>
                </a:moveTo>
                <a:lnTo>
                  <a:pt x="0" y="0"/>
                </a:lnTo>
                <a:lnTo>
                  <a:pt x="0" y="4114800"/>
                </a:lnTo>
                <a:lnTo>
                  <a:pt x="5006947" y="4114800"/>
                </a:lnTo>
                <a:lnTo>
                  <a:pt x="5006947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 flipH="1">
            <a:off x="-228600" y="1028700"/>
            <a:ext cx="7323564" cy="9781289"/>
          </a:xfrm>
          <a:custGeom>
            <a:rect b="b" l="l" r="r" t="t"/>
            <a:pathLst>
              <a:path extrusionOk="0" h="9781289" w="7323564">
                <a:moveTo>
                  <a:pt x="7323564" y="0"/>
                </a:moveTo>
                <a:lnTo>
                  <a:pt x="0" y="0"/>
                </a:lnTo>
                <a:lnTo>
                  <a:pt x="0" y="9781289"/>
                </a:lnTo>
                <a:lnTo>
                  <a:pt x="7323564" y="9781289"/>
                </a:lnTo>
                <a:lnTo>
                  <a:pt x="732356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210" l="0" r="0" t="0"/>
            </a:stretch>
          </a:blipFill>
          <a:ln>
            <a:noFill/>
          </a:ln>
        </p:spPr>
      </p:sp>
      <p:sp>
        <p:nvSpPr>
          <p:cNvPr id="39" name="Google Shape;39;p6"/>
          <p:cNvSpPr/>
          <p:nvPr/>
        </p:nvSpPr>
        <p:spPr>
          <a:xfrm flipH="1">
            <a:off x="5014182" y="8049638"/>
            <a:ext cx="4129818" cy="4114800"/>
          </a:xfrm>
          <a:custGeom>
            <a:rect b="b" l="l" r="r" t="t"/>
            <a:pathLst>
              <a:path extrusionOk="0" h="4114800" w="4129818">
                <a:moveTo>
                  <a:pt x="4129818" y="0"/>
                </a:moveTo>
                <a:lnTo>
                  <a:pt x="0" y="0"/>
                </a:lnTo>
                <a:lnTo>
                  <a:pt x="0" y="4114800"/>
                </a:lnTo>
                <a:lnTo>
                  <a:pt x="4129818" y="4114800"/>
                </a:lnTo>
                <a:lnTo>
                  <a:pt x="412981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" name="Google Shape;40;p6"/>
          <p:cNvSpPr/>
          <p:nvPr/>
        </p:nvSpPr>
        <p:spPr>
          <a:xfrm>
            <a:off x="0" y="5042874"/>
            <a:ext cx="1611377" cy="5244126"/>
          </a:xfrm>
          <a:custGeom>
            <a:rect b="b" l="l" r="r" t="t"/>
            <a:pathLst>
              <a:path extrusionOk="0" h="5244126" w="1611377">
                <a:moveTo>
                  <a:pt x="0" y="0"/>
                </a:moveTo>
                <a:lnTo>
                  <a:pt x="1611377" y="0"/>
                </a:lnTo>
                <a:lnTo>
                  <a:pt x="1611377" y="5244126"/>
                </a:lnTo>
                <a:lnTo>
                  <a:pt x="0" y="52441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274875" y="4375700"/>
            <a:ext cx="9072300" cy="4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  <a:defRPr i="0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  <a:defRPr i="0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i="0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type="title"/>
          </p:nvPr>
        </p:nvSpPr>
        <p:spPr>
          <a:xfrm>
            <a:off x="8274875" y="1352725"/>
            <a:ext cx="8229600" cy="17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ecial Elite"/>
              <a:buNone/>
              <a:defRPr i="0" sz="6000" u="none" cap="none" strike="noStrike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 rot="-648264">
            <a:off x="-1969198" y="-354440"/>
            <a:ext cx="5924718" cy="5299100"/>
          </a:xfrm>
          <a:custGeom>
            <a:rect b="b" l="l" r="r" t="t"/>
            <a:pathLst>
              <a:path extrusionOk="0" h="5297875" w="5923348">
                <a:moveTo>
                  <a:pt x="0" y="0"/>
                </a:moveTo>
                <a:lnTo>
                  <a:pt x="5923348" y="0"/>
                </a:lnTo>
                <a:lnTo>
                  <a:pt x="5923348" y="5297875"/>
                </a:lnTo>
                <a:lnTo>
                  <a:pt x="0" y="5297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" name="Google Shape;45;p7"/>
          <p:cNvSpPr/>
          <p:nvPr/>
        </p:nvSpPr>
        <p:spPr>
          <a:xfrm rot="-361440">
            <a:off x="14250391" y="484588"/>
            <a:ext cx="4930724" cy="5116186"/>
          </a:xfrm>
          <a:custGeom>
            <a:rect b="b" l="l" r="r" t="t"/>
            <a:pathLst>
              <a:path extrusionOk="0" h="5113502" w="4928137">
                <a:moveTo>
                  <a:pt x="0" y="0"/>
                </a:moveTo>
                <a:lnTo>
                  <a:pt x="4928137" y="0"/>
                </a:lnTo>
                <a:lnTo>
                  <a:pt x="4928137" y="5113502"/>
                </a:lnTo>
                <a:lnTo>
                  <a:pt x="0" y="5113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" name="Google Shape;46;p7"/>
          <p:cNvSpPr/>
          <p:nvPr/>
        </p:nvSpPr>
        <p:spPr>
          <a:xfrm>
            <a:off x="13152725" y="-373077"/>
            <a:ext cx="2165087" cy="2213378"/>
          </a:xfrm>
          <a:custGeom>
            <a:rect b="b" l="l" r="r" t="t"/>
            <a:pathLst>
              <a:path extrusionOk="0" h="2213378" w="2165087">
                <a:moveTo>
                  <a:pt x="0" y="0"/>
                </a:moveTo>
                <a:lnTo>
                  <a:pt x="2165086" y="0"/>
                </a:lnTo>
                <a:lnTo>
                  <a:pt x="2165086" y="2213378"/>
                </a:lnTo>
                <a:lnTo>
                  <a:pt x="0" y="2213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794338" y="4528863"/>
            <a:ext cx="9072300" cy="43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marR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  <a:defRPr i="0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  <a:defRPr i="0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-381000" lvl="2" marL="1371600" marR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i="0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-355600" lvl="3" marL="1828800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-355600" lvl="4" marL="2286000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-355600" lvl="5" marL="2743200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-355600" lvl="6" marL="3200400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-355600" lvl="7" marL="3657600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-355600" lvl="8" marL="4114800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4794338" y="1505887"/>
            <a:ext cx="8229600" cy="17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ecial Elite"/>
              <a:buNone/>
              <a:defRPr i="0" sz="6000" u="none" cap="none" strike="noStrike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12969471" y="-281706"/>
            <a:ext cx="5720494" cy="5541729"/>
          </a:xfrm>
          <a:custGeom>
            <a:rect b="b" l="l" r="r" t="t"/>
            <a:pathLst>
              <a:path extrusionOk="0" h="5541729" w="5720494">
                <a:moveTo>
                  <a:pt x="0" y="0"/>
                </a:moveTo>
                <a:lnTo>
                  <a:pt x="5720495" y="0"/>
                </a:lnTo>
                <a:lnTo>
                  <a:pt x="5720495" y="5541728"/>
                </a:lnTo>
                <a:lnTo>
                  <a:pt x="0" y="5541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" name="Google Shape;51;p8"/>
          <p:cNvGrpSpPr/>
          <p:nvPr/>
        </p:nvGrpSpPr>
        <p:grpSpPr>
          <a:xfrm rot="-431824">
            <a:off x="12343527" y="1489939"/>
            <a:ext cx="9760994" cy="8105911"/>
            <a:chOff x="-98732" y="-204798"/>
            <a:chExt cx="2689427" cy="2233405"/>
          </a:xfrm>
        </p:grpSpPr>
        <p:sp>
          <p:nvSpPr>
            <p:cNvPr id="52" name="Google Shape;52;p8"/>
            <p:cNvSpPr/>
            <p:nvPr/>
          </p:nvSpPr>
          <p:spPr>
            <a:xfrm rot="-396560">
              <a:off x="5879" y="-68580"/>
              <a:ext cx="2480205" cy="1960969"/>
            </a:xfrm>
            <a:custGeom>
              <a:rect b="b" l="l" r="r" t="t"/>
              <a:pathLst>
                <a:path extrusionOk="0" h="1962656" w="2482339">
                  <a:moveTo>
                    <a:pt x="2286046" y="1962642"/>
                  </a:moveTo>
                  <a:lnTo>
                    <a:pt x="0" y="1698638"/>
                  </a:lnTo>
                  <a:lnTo>
                    <a:pt x="196167" y="0"/>
                  </a:lnTo>
                  <a:lnTo>
                    <a:pt x="2482339" y="264018"/>
                  </a:lnTo>
                  <a:lnTo>
                    <a:pt x="2286172" y="196265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18490" r="0" t="0"/>
              </a:stretch>
            </a:blipFill>
            <a:ln>
              <a:noFill/>
            </a:ln>
          </p:spPr>
        </p:sp>
        <p:sp>
          <p:nvSpPr>
            <p:cNvPr id="53" name="Google Shape;53;p8"/>
            <p:cNvSpPr/>
            <p:nvPr/>
          </p:nvSpPr>
          <p:spPr>
            <a:xfrm>
              <a:off x="0" y="0"/>
              <a:ext cx="2481072" cy="1847088"/>
            </a:xfrm>
            <a:custGeom>
              <a:rect b="b" l="l" r="r" t="t"/>
              <a:pathLst>
                <a:path extrusionOk="0" h="1847088" w="2481072">
                  <a:moveTo>
                    <a:pt x="2481072" y="1847088"/>
                  </a:moveTo>
                  <a:lnTo>
                    <a:pt x="0" y="1847088"/>
                  </a:lnTo>
                  <a:lnTo>
                    <a:pt x="0" y="0"/>
                  </a:lnTo>
                  <a:lnTo>
                    <a:pt x="2481072" y="0"/>
                  </a:lnTo>
                  <a:lnTo>
                    <a:pt x="2481072" y="1847088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40" l="0" r="0" t="-30"/>
              </a:stretch>
            </a:blipFill>
            <a:ln>
              <a:noFill/>
            </a:ln>
          </p:spPr>
        </p:sp>
      </p:grpSp>
      <p:sp>
        <p:nvSpPr>
          <p:cNvPr id="54" name="Google Shape;54;p8"/>
          <p:cNvSpPr/>
          <p:nvPr/>
        </p:nvSpPr>
        <p:spPr>
          <a:xfrm rot="-904748">
            <a:off x="14407510" y="8099920"/>
            <a:ext cx="4923647" cy="2417063"/>
          </a:xfrm>
          <a:custGeom>
            <a:rect b="b" l="l" r="r" t="t"/>
            <a:pathLst>
              <a:path extrusionOk="0" h="2418484" w="4926542">
                <a:moveTo>
                  <a:pt x="0" y="0"/>
                </a:moveTo>
                <a:lnTo>
                  <a:pt x="4926541" y="0"/>
                </a:lnTo>
                <a:lnTo>
                  <a:pt x="4926541" y="2418484"/>
                </a:lnTo>
                <a:lnTo>
                  <a:pt x="0" y="2418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8"/>
          <p:cNvSpPr/>
          <p:nvPr/>
        </p:nvSpPr>
        <p:spPr>
          <a:xfrm>
            <a:off x="12322853" y="8378492"/>
            <a:ext cx="2644232" cy="1759616"/>
          </a:xfrm>
          <a:custGeom>
            <a:rect b="b" l="l" r="r" t="t"/>
            <a:pathLst>
              <a:path extrusionOk="0" h="1759616" w="2644232">
                <a:moveTo>
                  <a:pt x="0" y="0"/>
                </a:moveTo>
                <a:lnTo>
                  <a:pt x="2644232" y="0"/>
                </a:lnTo>
                <a:lnTo>
                  <a:pt x="2644232" y="1759616"/>
                </a:lnTo>
                <a:lnTo>
                  <a:pt x="0" y="175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7606" r="3331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pecial Elite"/>
              <a:buNone/>
              <a:defRPr i="0" sz="4400" u="none" cap="none" strike="noStrike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  <a:defRPr i="0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  <a:defRPr i="0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i="0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i="0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0" Type="http://schemas.openxmlformats.org/officeDocument/2006/relationships/image" Target="../media/image3.png"/><Relationship Id="rId9" Type="http://schemas.openxmlformats.org/officeDocument/2006/relationships/image" Target="../media/image1.png"/><Relationship Id="rId5" Type="http://schemas.openxmlformats.org/officeDocument/2006/relationships/image" Target="../media/image23.jpg"/><Relationship Id="rId6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46.png"/><Relationship Id="rId7" Type="http://schemas.openxmlformats.org/officeDocument/2006/relationships/image" Target="../media/image13.png"/><Relationship Id="rId8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9" Type="http://schemas.openxmlformats.org/officeDocument/2006/relationships/image" Target="../media/image43.png"/><Relationship Id="rId5" Type="http://schemas.openxmlformats.org/officeDocument/2006/relationships/image" Target="../media/image16.png"/><Relationship Id="rId6" Type="http://schemas.openxmlformats.org/officeDocument/2006/relationships/image" Target="../media/image33.png"/><Relationship Id="rId7" Type="http://schemas.openxmlformats.org/officeDocument/2006/relationships/image" Target="../media/image48.png"/><Relationship Id="rId8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7.png"/><Relationship Id="rId5" Type="http://schemas.openxmlformats.org/officeDocument/2006/relationships/image" Target="../media/image6.png"/><Relationship Id="rId6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0.png"/><Relationship Id="rId5" Type="http://schemas.openxmlformats.org/officeDocument/2006/relationships/image" Target="../media/image41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jpg"/><Relationship Id="rId4" Type="http://schemas.openxmlformats.org/officeDocument/2006/relationships/image" Target="../media/image44.png"/><Relationship Id="rId5" Type="http://schemas.openxmlformats.org/officeDocument/2006/relationships/image" Target="../media/image50.png"/><Relationship Id="rId6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46.png"/><Relationship Id="rId7" Type="http://schemas.openxmlformats.org/officeDocument/2006/relationships/image" Target="../media/image13.png"/><Relationship Id="rId8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image" Target="../media/image42.png"/><Relationship Id="rId10" Type="http://schemas.openxmlformats.org/officeDocument/2006/relationships/image" Target="../media/image29.png"/><Relationship Id="rId9" Type="http://schemas.openxmlformats.org/officeDocument/2006/relationships/image" Target="../media/image49.png"/><Relationship Id="rId5" Type="http://schemas.openxmlformats.org/officeDocument/2006/relationships/image" Target="../media/image13.png"/><Relationship Id="rId6" Type="http://schemas.openxmlformats.org/officeDocument/2006/relationships/image" Target="../media/image33.png"/><Relationship Id="rId7" Type="http://schemas.openxmlformats.org/officeDocument/2006/relationships/image" Target="../media/image25.png"/><Relationship Id="rId8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718061" y="813293"/>
            <a:ext cx="8583300" cy="8583300"/>
          </a:xfrm>
          <a:custGeom>
            <a:rect b="b" l="l" r="r" t="t"/>
            <a:pathLst>
              <a:path extrusionOk="0" h="8583300" w="8583300">
                <a:moveTo>
                  <a:pt x="0" y="0"/>
                </a:moveTo>
                <a:lnTo>
                  <a:pt x="8583300" y="0"/>
                </a:lnTo>
                <a:lnTo>
                  <a:pt x="8583300" y="8583300"/>
                </a:lnTo>
                <a:lnTo>
                  <a:pt x="0" y="8583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" name="Google Shape;61;p9"/>
          <p:cNvSpPr/>
          <p:nvPr/>
        </p:nvSpPr>
        <p:spPr>
          <a:xfrm rot="121391">
            <a:off x="5086230" y="1223811"/>
            <a:ext cx="7846822" cy="7839475"/>
          </a:xfrm>
          <a:custGeom>
            <a:rect b="b" l="l" r="r" t="t"/>
            <a:pathLst>
              <a:path extrusionOk="0" h="3252216" w="3255264">
                <a:moveTo>
                  <a:pt x="3255264" y="3252216"/>
                </a:moveTo>
                <a:lnTo>
                  <a:pt x="0" y="3252216"/>
                </a:lnTo>
                <a:lnTo>
                  <a:pt x="0" y="0"/>
                </a:lnTo>
                <a:lnTo>
                  <a:pt x="3255264" y="0"/>
                </a:lnTo>
                <a:lnTo>
                  <a:pt x="3255264" y="325221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4" r="-14" t="0"/>
            </a:stretch>
          </a:blipFill>
          <a:ln>
            <a:noFill/>
          </a:ln>
        </p:spPr>
      </p:sp>
      <p:pic>
        <p:nvPicPr>
          <p:cNvPr id="62" name="Google Shape;62;p9"/>
          <p:cNvPicPr preferRelativeResize="0"/>
          <p:nvPr/>
        </p:nvPicPr>
        <p:blipFill rotWithShape="1">
          <a:blip r:embed="rId5">
            <a:alphaModFix/>
          </a:blip>
          <a:srcRect b="446" l="0" r="0" t="456"/>
          <a:stretch/>
        </p:blipFill>
        <p:spPr>
          <a:xfrm rot="149947">
            <a:off x="5671201" y="1816551"/>
            <a:ext cx="6780901" cy="67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/>
          <p:nvPr/>
        </p:nvSpPr>
        <p:spPr>
          <a:xfrm rot="297752">
            <a:off x="3032814" y="6513118"/>
            <a:ext cx="3210398" cy="3267581"/>
          </a:xfrm>
          <a:custGeom>
            <a:rect b="b" l="l" r="r" t="t"/>
            <a:pathLst>
              <a:path extrusionOk="0" h="3267581" w="3210398">
                <a:moveTo>
                  <a:pt x="0" y="0"/>
                </a:moveTo>
                <a:lnTo>
                  <a:pt x="3210399" y="0"/>
                </a:lnTo>
                <a:lnTo>
                  <a:pt x="3210399" y="3267581"/>
                </a:lnTo>
                <a:lnTo>
                  <a:pt x="0" y="3267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9"/>
          <p:cNvSpPr/>
          <p:nvPr/>
        </p:nvSpPr>
        <p:spPr>
          <a:xfrm rot="192557">
            <a:off x="7398874" y="593335"/>
            <a:ext cx="3490251" cy="802758"/>
          </a:xfrm>
          <a:custGeom>
            <a:rect b="b" l="l" r="r" t="t"/>
            <a:pathLst>
              <a:path extrusionOk="0" h="802758" w="3490251">
                <a:moveTo>
                  <a:pt x="0" y="0"/>
                </a:moveTo>
                <a:lnTo>
                  <a:pt x="3490252" y="0"/>
                </a:lnTo>
                <a:lnTo>
                  <a:pt x="3490252" y="802758"/>
                </a:lnTo>
                <a:lnTo>
                  <a:pt x="0" y="802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5" name="Google Shape;65;p9"/>
          <p:cNvGrpSpPr/>
          <p:nvPr/>
        </p:nvGrpSpPr>
        <p:grpSpPr>
          <a:xfrm>
            <a:off x="4332323" y="6550150"/>
            <a:ext cx="3170260" cy="1228043"/>
            <a:chOff x="-240798" y="-47397"/>
            <a:chExt cx="797700" cy="309000"/>
          </a:xfrm>
        </p:grpSpPr>
        <p:sp>
          <p:nvSpPr>
            <p:cNvPr id="66" name="Google Shape;66;p9"/>
            <p:cNvSpPr/>
            <p:nvPr/>
          </p:nvSpPr>
          <p:spPr>
            <a:xfrm>
              <a:off x="0" y="0"/>
              <a:ext cx="228589" cy="261596"/>
            </a:xfrm>
            <a:custGeom>
              <a:rect b="b" l="l" r="r" t="t"/>
              <a:pathLst>
                <a:path extrusionOk="0" h="261596" w="228589">
                  <a:moveTo>
                    <a:pt x="0" y="0"/>
                  </a:moveTo>
                  <a:lnTo>
                    <a:pt x="228589" y="0"/>
                  </a:lnTo>
                  <a:lnTo>
                    <a:pt x="228589" y="261596"/>
                  </a:lnTo>
                  <a:lnTo>
                    <a:pt x="0" y="2615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Google Shape;67;p9"/>
            <p:cNvSpPr txBox="1"/>
            <p:nvPr/>
          </p:nvSpPr>
          <p:spPr>
            <a:xfrm>
              <a:off x="-240798" y="-47397"/>
              <a:ext cx="7977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latin typeface="Special Elite"/>
                  <a:ea typeface="Special Elite"/>
                  <a:cs typeface="Special Elite"/>
                  <a:sym typeface="Special Elite"/>
                </a:rPr>
                <a:t>Megh</a:t>
              </a:r>
              <a:endParaRPr/>
            </a:p>
          </p:txBody>
        </p:sp>
      </p:grpSp>
      <p:grpSp>
        <p:nvGrpSpPr>
          <p:cNvPr id="68" name="Google Shape;68;p9"/>
          <p:cNvGrpSpPr/>
          <p:nvPr/>
        </p:nvGrpSpPr>
        <p:grpSpPr>
          <a:xfrm>
            <a:off x="6516174" y="6550177"/>
            <a:ext cx="1366400" cy="1228043"/>
            <a:chOff x="0" y="-47391"/>
            <a:chExt cx="343814" cy="309000"/>
          </a:xfrm>
        </p:grpSpPr>
        <p:sp>
          <p:nvSpPr>
            <p:cNvPr id="69" name="Google Shape;69;p9"/>
            <p:cNvSpPr/>
            <p:nvPr/>
          </p:nvSpPr>
          <p:spPr>
            <a:xfrm>
              <a:off x="0" y="0"/>
              <a:ext cx="343814" cy="261596"/>
            </a:xfrm>
            <a:custGeom>
              <a:rect b="b" l="l" r="r" t="t"/>
              <a:pathLst>
                <a:path extrusionOk="0" h="261596" w="343814">
                  <a:moveTo>
                    <a:pt x="0" y="0"/>
                  </a:moveTo>
                  <a:lnTo>
                    <a:pt x="343814" y="0"/>
                  </a:lnTo>
                  <a:lnTo>
                    <a:pt x="343814" y="261596"/>
                  </a:lnTo>
                  <a:lnTo>
                    <a:pt x="0" y="2615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0" name="Google Shape;70;p9"/>
            <p:cNvSpPr txBox="1"/>
            <p:nvPr/>
          </p:nvSpPr>
          <p:spPr>
            <a:xfrm>
              <a:off x="0" y="-47391"/>
              <a:ext cx="3438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9"/>
          <p:cNvGrpSpPr/>
          <p:nvPr/>
        </p:nvGrpSpPr>
        <p:grpSpPr>
          <a:xfrm>
            <a:off x="7379156" y="6550175"/>
            <a:ext cx="1729289" cy="1228043"/>
            <a:chOff x="-206784" y="-47391"/>
            <a:chExt cx="435125" cy="309000"/>
          </a:xfrm>
        </p:grpSpPr>
        <p:sp>
          <p:nvSpPr>
            <p:cNvPr id="72" name="Google Shape;72;p9"/>
            <p:cNvSpPr/>
            <p:nvPr/>
          </p:nvSpPr>
          <p:spPr>
            <a:xfrm>
              <a:off x="0" y="0"/>
              <a:ext cx="228341" cy="261596"/>
            </a:xfrm>
            <a:custGeom>
              <a:rect b="b" l="l" r="r" t="t"/>
              <a:pathLst>
                <a:path extrusionOk="0" h="261596" w="228341">
                  <a:moveTo>
                    <a:pt x="0" y="0"/>
                  </a:moveTo>
                  <a:lnTo>
                    <a:pt x="228341" y="0"/>
                  </a:lnTo>
                  <a:lnTo>
                    <a:pt x="228341" y="261596"/>
                  </a:lnTo>
                  <a:lnTo>
                    <a:pt x="0" y="2615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3" name="Google Shape;73;p9"/>
            <p:cNvSpPr txBox="1"/>
            <p:nvPr/>
          </p:nvSpPr>
          <p:spPr>
            <a:xfrm>
              <a:off x="-206784" y="-47391"/>
              <a:ext cx="4350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latin typeface="Special Elite"/>
                  <a:ea typeface="Special Elite"/>
                  <a:cs typeface="Special Elite"/>
                  <a:sym typeface="Special Elite"/>
                </a:rPr>
                <a:t>Ellie</a:t>
              </a:r>
              <a:endParaRPr/>
            </a:p>
          </p:txBody>
        </p:sp>
      </p:grpSp>
      <p:sp>
        <p:nvSpPr>
          <p:cNvPr id="74" name="Google Shape;74;p9"/>
          <p:cNvSpPr/>
          <p:nvPr/>
        </p:nvSpPr>
        <p:spPr>
          <a:xfrm rot="6861076">
            <a:off x="11641977" y="7199902"/>
            <a:ext cx="4008496" cy="1894014"/>
          </a:xfrm>
          <a:custGeom>
            <a:rect b="b" l="l" r="r" t="t"/>
            <a:pathLst>
              <a:path extrusionOk="0" h="1894014" w="4008496">
                <a:moveTo>
                  <a:pt x="0" y="0"/>
                </a:moveTo>
                <a:lnTo>
                  <a:pt x="4008495" y="0"/>
                </a:lnTo>
                <a:lnTo>
                  <a:pt x="4008495" y="1894014"/>
                </a:lnTo>
                <a:lnTo>
                  <a:pt x="0" y="1894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5" name="Google Shape;75;p9"/>
          <p:cNvGrpSpPr/>
          <p:nvPr/>
        </p:nvGrpSpPr>
        <p:grpSpPr>
          <a:xfrm>
            <a:off x="9426825" y="6550178"/>
            <a:ext cx="3170620" cy="1228043"/>
            <a:chOff x="-3" y="-47390"/>
            <a:chExt cx="797792" cy="309000"/>
          </a:xfrm>
        </p:grpSpPr>
        <p:sp>
          <p:nvSpPr>
            <p:cNvPr id="76" name="Google Shape;76;p9"/>
            <p:cNvSpPr/>
            <p:nvPr/>
          </p:nvSpPr>
          <p:spPr>
            <a:xfrm>
              <a:off x="0" y="0"/>
              <a:ext cx="797789" cy="261596"/>
            </a:xfrm>
            <a:custGeom>
              <a:rect b="b" l="l" r="r" t="t"/>
              <a:pathLst>
                <a:path extrusionOk="0" h="261596" w="797789">
                  <a:moveTo>
                    <a:pt x="0" y="0"/>
                  </a:moveTo>
                  <a:lnTo>
                    <a:pt x="797789" y="0"/>
                  </a:lnTo>
                  <a:lnTo>
                    <a:pt x="797789" y="261596"/>
                  </a:lnTo>
                  <a:lnTo>
                    <a:pt x="0" y="2615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7" name="Google Shape;77;p9"/>
            <p:cNvSpPr txBox="1"/>
            <p:nvPr/>
          </p:nvSpPr>
          <p:spPr>
            <a:xfrm>
              <a:off x="-3" y="-47390"/>
              <a:ext cx="7977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latin typeface="Special Elite"/>
                  <a:ea typeface="Special Elite"/>
                  <a:cs typeface="Special Elite"/>
                  <a:sym typeface="Special Elite"/>
                </a:rPr>
                <a:t>Nathan</a:t>
              </a:r>
              <a:endParaRPr/>
            </a:p>
          </p:txBody>
        </p:sp>
      </p:grpSp>
      <p:sp>
        <p:nvSpPr>
          <p:cNvPr id="78" name="Google Shape;78;p9"/>
          <p:cNvSpPr/>
          <p:nvPr/>
        </p:nvSpPr>
        <p:spPr>
          <a:xfrm rot="130810">
            <a:off x="12153982" y="2498208"/>
            <a:ext cx="2461131" cy="2461131"/>
          </a:xfrm>
          <a:custGeom>
            <a:rect b="b" l="l" r="r" t="t"/>
            <a:pathLst>
              <a:path extrusionOk="0" h="2461131" w="2461131">
                <a:moveTo>
                  <a:pt x="0" y="0"/>
                </a:moveTo>
                <a:lnTo>
                  <a:pt x="2461131" y="0"/>
                </a:lnTo>
                <a:lnTo>
                  <a:pt x="2461131" y="2461130"/>
                </a:lnTo>
                <a:lnTo>
                  <a:pt x="0" y="2461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9" name="Google Shape;79;p9"/>
          <p:cNvGrpSpPr/>
          <p:nvPr/>
        </p:nvGrpSpPr>
        <p:grpSpPr>
          <a:xfrm rot="95966">
            <a:off x="8671555" y="8003230"/>
            <a:ext cx="975281" cy="969004"/>
            <a:chOff x="0" y="0"/>
            <a:chExt cx="876703" cy="871060"/>
          </a:xfrm>
        </p:grpSpPr>
        <p:sp>
          <p:nvSpPr>
            <p:cNvPr id="80" name="Google Shape;80;p9"/>
            <p:cNvSpPr/>
            <p:nvPr/>
          </p:nvSpPr>
          <p:spPr>
            <a:xfrm>
              <a:off x="0" y="0"/>
              <a:ext cx="876703" cy="871060"/>
            </a:xfrm>
            <a:custGeom>
              <a:rect b="b" l="l" r="r" t="t"/>
              <a:pathLst>
                <a:path extrusionOk="0" h="871060" w="876703">
                  <a:moveTo>
                    <a:pt x="438352" y="0"/>
                  </a:moveTo>
                  <a:cubicBezTo>
                    <a:pt x="196257" y="0"/>
                    <a:pt x="0" y="194993"/>
                    <a:pt x="0" y="435530"/>
                  </a:cubicBezTo>
                  <a:cubicBezTo>
                    <a:pt x="0" y="676067"/>
                    <a:pt x="196257" y="871060"/>
                    <a:pt x="438352" y="871060"/>
                  </a:cubicBezTo>
                  <a:cubicBezTo>
                    <a:pt x="680447" y="871060"/>
                    <a:pt x="876703" y="676067"/>
                    <a:pt x="876703" y="435530"/>
                  </a:cubicBezTo>
                  <a:cubicBezTo>
                    <a:pt x="876703" y="194993"/>
                    <a:pt x="680447" y="0"/>
                    <a:pt x="438352" y="0"/>
                  </a:cubicBezTo>
                  <a:close/>
                </a:path>
              </a:pathLst>
            </a:custGeom>
            <a:solidFill>
              <a:srgbClr val="EFAB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1" name="Google Shape;81;p9"/>
            <p:cNvSpPr txBox="1"/>
            <p:nvPr/>
          </p:nvSpPr>
          <p:spPr>
            <a:xfrm>
              <a:off x="82191" y="14987"/>
              <a:ext cx="712322" cy="774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grpSp>
        <p:nvGrpSpPr>
          <p:cNvPr id="82" name="Google Shape;82;p9"/>
          <p:cNvGrpSpPr/>
          <p:nvPr/>
        </p:nvGrpSpPr>
        <p:grpSpPr>
          <a:xfrm rot="95966">
            <a:off x="9648176" y="8061168"/>
            <a:ext cx="975281" cy="969004"/>
            <a:chOff x="0" y="0"/>
            <a:chExt cx="876703" cy="871060"/>
          </a:xfrm>
        </p:grpSpPr>
        <p:sp>
          <p:nvSpPr>
            <p:cNvPr id="83" name="Google Shape;83;p9"/>
            <p:cNvSpPr/>
            <p:nvPr/>
          </p:nvSpPr>
          <p:spPr>
            <a:xfrm>
              <a:off x="0" y="0"/>
              <a:ext cx="876703" cy="871060"/>
            </a:xfrm>
            <a:custGeom>
              <a:rect b="b" l="l" r="r" t="t"/>
              <a:pathLst>
                <a:path extrusionOk="0" h="871060" w="876703">
                  <a:moveTo>
                    <a:pt x="438352" y="0"/>
                  </a:moveTo>
                  <a:cubicBezTo>
                    <a:pt x="196257" y="0"/>
                    <a:pt x="0" y="194993"/>
                    <a:pt x="0" y="435530"/>
                  </a:cubicBezTo>
                  <a:cubicBezTo>
                    <a:pt x="0" y="676067"/>
                    <a:pt x="196257" y="871060"/>
                    <a:pt x="438352" y="871060"/>
                  </a:cubicBezTo>
                  <a:cubicBezTo>
                    <a:pt x="680447" y="871060"/>
                    <a:pt x="876703" y="676067"/>
                    <a:pt x="876703" y="435530"/>
                  </a:cubicBezTo>
                  <a:cubicBezTo>
                    <a:pt x="876703" y="194993"/>
                    <a:pt x="680447" y="0"/>
                    <a:pt x="438352" y="0"/>
                  </a:cubicBezTo>
                  <a:close/>
                </a:path>
              </a:pathLst>
            </a:custGeom>
            <a:solidFill>
              <a:srgbClr val="EFAB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4" name="Google Shape;84;p9"/>
            <p:cNvSpPr txBox="1"/>
            <p:nvPr/>
          </p:nvSpPr>
          <p:spPr>
            <a:xfrm>
              <a:off x="82191" y="14987"/>
              <a:ext cx="712322" cy="774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grpSp>
        <p:nvGrpSpPr>
          <p:cNvPr id="85" name="Google Shape;85;p9"/>
          <p:cNvGrpSpPr/>
          <p:nvPr/>
        </p:nvGrpSpPr>
        <p:grpSpPr>
          <a:xfrm rot="95966">
            <a:off x="10628693" y="7992071"/>
            <a:ext cx="975281" cy="969004"/>
            <a:chOff x="0" y="0"/>
            <a:chExt cx="876703" cy="871060"/>
          </a:xfrm>
        </p:grpSpPr>
        <p:sp>
          <p:nvSpPr>
            <p:cNvPr id="86" name="Google Shape;86;p9"/>
            <p:cNvSpPr/>
            <p:nvPr/>
          </p:nvSpPr>
          <p:spPr>
            <a:xfrm>
              <a:off x="0" y="0"/>
              <a:ext cx="876703" cy="871060"/>
            </a:xfrm>
            <a:custGeom>
              <a:rect b="b" l="l" r="r" t="t"/>
              <a:pathLst>
                <a:path extrusionOk="0" h="871060" w="876703">
                  <a:moveTo>
                    <a:pt x="438352" y="0"/>
                  </a:moveTo>
                  <a:cubicBezTo>
                    <a:pt x="196257" y="0"/>
                    <a:pt x="0" y="194993"/>
                    <a:pt x="0" y="435530"/>
                  </a:cubicBezTo>
                  <a:cubicBezTo>
                    <a:pt x="0" y="676067"/>
                    <a:pt x="196257" y="871060"/>
                    <a:pt x="438352" y="871060"/>
                  </a:cubicBezTo>
                  <a:cubicBezTo>
                    <a:pt x="680447" y="871060"/>
                    <a:pt x="876703" y="676067"/>
                    <a:pt x="876703" y="435530"/>
                  </a:cubicBezTo>
                  <a:cubicBezTo>
                    <a:pt x="876703" y="194993"/>
                    <a:pt x="680447" y="0"/>
                    <a:pt x="438352" y="0"/>
                  </a:cubicBezTo>
                  <a:close/>
                </a:path>
              </a:pathLst>
            </a:custGeom>
            <a:solidFill>
              <a:srgbClr val="EFAB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7" name="Google Shape;87;p9"/>
            <p:cNvSpPr txBox="1"/>
            <p:nvPr/>
          </p:nvSpPr>
          <p:spPr>
            <a:xfrm>
              <a:off x="82191" y="14987"/>
              <a:ext cx="712322" cy="774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grpSp>
        <p:nvGrpSpPr>
          <p:cNvPr id="88" name="Google Shape;88;p9"/>
          <p:cNvGrpSpPr/>
          <p:nvPr/>
        </p:nvGrpSpPr>
        <p:grpSpPr>
          <a:xfrm rot="95966">
            <a:off x="11603990" y="8093169"/>
            <a:ext cx="975281" cy="969004"/>
            <a:chOff x="0" y="0"/>
            <a:chExt cx="876703" cy="871060"/>
          </a:xfrm>
        </p:grpSpPr>
        <p:sp>
          <p:nvSpPr>
            <p:cNvPr id="89" name="Google Shape;89;p9"/>
            <p:cNvSpPr/>
            <p:nvPr/>
          </p:nvSpPr>
          <p:spPr>
            <a:xfrm>
              <a:off x="0" y="0"/>
              <a:ext cx="876703" cy="871060"/>
            </a:xfrm>
            <a:custGeom>
              <a:rect b="b" l="l" r="r" t="t"/>
              <a:pathLst>
                <a:path extrusionOk="0" h="871060" w="876703">
                  <a:moveTo>
                    <a:pt x="438352" y="0"/>
                  </a:moveTo>
                  <a:cubicBezTo>
                    <a:pt x="196257" y="0"/>
                    <a:pt x="0" y="194993"/>
                    <a:pt x="0" y="435530"/>
                  </a:cubicBezTo>
                  <a:cubicBezTo>
                    <a:pt x="0" y="676067"/>
                    <a:pt x="196257" y="871060"/>
                    <a:pt x="438352" y="871060"/>
                  </a:cubicBezTo>
                  <a:cubicBezTo>
                    <a:pt x="680447" y="871060"/>
                    <a:pt x="876703" y="676067"/>
                    <a:pt x="876703" y="435530"/>
                  </a:cubicBezTo>
                  <a:cubicBezTo>
                    <a:pt x="876703" y="194993"/>
                    <a:pt x="680447" y="0"/>
                    <a:pt x="438352" y="0"/>
                  </a:cubicBezTo>
                  <a:close/>
                </a:path>
              </a:pathLst>
            </a:custGeom>
            <a:solidFill>
              <a:srgbClr val="EFAB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" name="Google Shape;90;p9"/>
            <p:cNvSpPr txBox="1"/>
            <p:nvPr/>
          </p:nvSpPr>
          <p:spPr>
            <a:xfrm>
              <a:off x="82191" y="14987"/>
              <a:ext cx="712322" cy="774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sp>
        <p:nvSpPr>
          <p:cNvPr id="91" name="Google Shape;91;p9"/>
          <p:cNvSpPr/>
          <p:nvPr/>
        </p:nvSpPr>
        <p:spPr>
          <a:xfrm rot="617448">
            <a:off x="2778247" y="-4485508"/>
            <a:ext cx="4907834" cy="8229600"/>
          </a:xfrm>
          <a:custGeom>
            <a:rect b="b" l="l" r="r" t="t"/>
            <a:pathLst>
              <a:path extrusionOk="0" h="8229600" w="4907834">
                <a:moveTo>
                  <a:pt x="0" y="0"/>
                </a:moveTo>
                <a:lnTo>
                  <a:pt x="4907834" y="0"/>
                </a:lnTo>
                <a:lnTo>
                  <a:pt x="49078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9"/>
          <p:cNvSpPr txBox="1"/>
          <p:nvPr/>
        </p:nvSpPr>
        <p:spPr>
          <a:xfrm rot="624206">
            <a:off x="5965706" y="569594"/>
            <a:ext cx="8951253" cy="277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>
                <a:highlight>
                  <a:srgbClr val="FFED00"/>
                </a:highlight>
                <a:latin typeface="Just Another Hand"/>
                <a:ea typeface="Just Another Hand"/>
                <a:cs typeface="Just Another Hand"/>
                <a:sym typeface="Just Another Hand"/>
              </a:rPr>
              <a:t>Clustering</a:t>
            </a:r>
            <a:endParaRPr>
              <a:highlight>
                <a:srgbClr val="FFED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/>
        </p:nvSpPr>
        <p:spPr>
          <a:xfrm flipH="1">
            <a:off x="12795197" y="5181840"/>
            <a:ext cx="5353437" cy="4992080"/>
          </a:xfrm>
          <a:custGeom>
            <a:rect b="b" l="l" r="r" t="t"/>
            <a:pathLst>
              <a:path extrusionOk="0" h="4992080" w="5353437">
                <a:moveTo>
                  <a:pt x="5353437" y="0"/>
                </a:moveTo>
                <a:lnTo>
                  <a:pt x="0" y="0"/>
                </a:lnTo>
                <a:lnTo>
                  <a:pt x="0" y="4992080"/>
                </a:lnTo>
                <a:lnTo>
                  <a:pt x="5353437" y="4992080"/>
                </a:lnTo>
                <a:lnTo>
                  <a:pt x="535343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0"/>
          <p:cNvSpPr txBox="1"/>
          <p:nvPr/>
        </p:nvSpPr>
        <p:spPr>
          <a:xfrm>
            <a:off x="1028700" y="1701075"/>
            <a:ext cx="8951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>
                <a:highlight>
                  <a:srgbClr val="FFED00"/>
                </a:highlight>
                <a:latin typeface="Just Another Hand"/>
                <a:ea typeface="Just Another Hand"/>
                <a:cs typeface="Just Another Hand"/>
                <a:sym typeface="Just Another Hand"/>
              </a:rPr>
              <a:t>Clustering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99" name="Google Shape;99;p10"/>
          <p:cNvSpPr txBox="1"/>
          <p:nvPr/>
        </p:nvSpPr>
        <p:spPr>
          <a:xfrm>
            <a:off x="1028700" y="6256026"/>
            <a:ext cx="5151600" cy="1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finding patterns in data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locating natrual groups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useful in marketing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6612875" y="6256025"/>
            <a:ext cx="9669000" cy="28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K-means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K-medoids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Hierarchical Agglomerative Clustering [HAC]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Particle Swarm Optimization [PSO]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01" name="Google Shape;101;p10"/>
          <p:cNvSpPr txBox="1"/>
          <p:nvPr/>
        </p:nvSpPr>
        <p:spPr>
          <a:xfrm>
            <a:off x="1028700" y="5076825"/>
            <a:ext cx="4526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Purpose</a:t>
            </a: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: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02" name="Google Shape;102;p10"/>
          <p:cNvSpPr txBox="1"/>
          <p:nvPr/>
        </p:nvSpPr>
        <p:spPr>
          <a:xfrm>
            <a:off x="6612886" y="5076825"/>
            <a:ext cx="4235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Our algorithms</a:t>
            </a: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: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14955350" y="1401375"/>
            <a:ext cx="2352252" cy="2433464"/>
          </a:xfrm>
          <a:custGeom>
            <a:rect b="b" l="l" r="r" t="t"/>
            <a:pathLst>
              <a:path extrusionOk="0" h="2274265" w="2063379">
                <a:moveTo>
                  <a:pt x="0" y="0"/>
                </a:moveTo>
                <a:lnTo>
                  <a:pt x="2063379" y="0"/>
                </a:lnTo>
                <a:lnTo>
                  <a:pt x="2063379" y="2274266"/>
                </a:lnTo>
                <a:lnTo>
                  <a:pt x="0" y="2274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7150" rotWithShape="0" algn="bl" dir="5400000" dist="19050">
              <a:srgbClr val="000000">
                <a:alpha val="54000"/>
              </a:srgbClr>
            </a:outerShdw>
          </a:effectLst>
        </p:spPr>
      </p:sp>
      <p:pic>
        <p:nvPicPr>
          <p:cNvPr id="104" name="Google Shape;104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42400" y="2329033"/>
            <a:ext cx="578150" cy="5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/>
        </p:nvSpPr>
        <p:spPr>
          <a:xfrm>
            <a:off x="1028700" y="1701075"/>
            <a:ext cx="8951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>
                <a:highlight>
                  <a:srgbClr val="FFED00"/>
                </a:highlight>
                <a:latin typeface="Just Another Hand"/>
                <a:ea typeface="Just Another Hand"/>
                <a:cs typeface="Just Another Hand"/>
                <a:sym typeface="Just Another Hand"/>
              </a:rPr>
              <a:t>Overview 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110" name="Google Shape;110;p11"/>
          <p:cNvSpPr txBox="1"/>
          <p:nvPr/>
        </p:nvSpPr>
        <p:spPr>
          <a:xfrm>
            <a:off x="1028700" y="6256026"/>
            <a:ext cx="5151600" cy="28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Synthetic data set: Scikit’s blobs translated to c++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Real data set: Mall customers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11" name="Google Shape;111;p11"/>
          <p:cNvSpPr txBox="1"/>
          <p:nvPr/>
        </p:nvSpPr>
        <p:spPr>
          <a:xfrm>
            <a:off x="6612875" y="6256025"/>
            <a:ext cx="6375000" cy="1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C++ 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Python (Graph)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12" name="Google Shape;112;p11"/>
          <p:cNvSpPr txBox="1"/>
          <p:nvPr/>
        </p:nvSpPr>
        <p:spPr>
          <a:xfrm>
            <a:off x="1028700" y="5076825"/>
            <a:ext cx="4526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Data sets</a:t>
            </a: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: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3" name="Google Shape;113;p11"/>
          <p:cNvSpPr txBox="1"/>
          <p:nvPr/>
        </p:nvSpPr>
        <p:spPr>
          <a:xfrm>
            <a:off x="6612886" y="5076825"/>
            <a:ext cx="4235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Language</a:t>
            </a: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: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8106700" y="7515074"/>
            <a:ext cx="5393694" cy="2771513"/>
          </a:xfrm>
          <a:custGeom>
            <a:rect b="b" l="l" r="r" t="t"/>
            <a:pathLst>
              <a:path extrusionOk="0" h="1563618" w="3158825">
                <a:moveTo>
                  <a:pt x="0" y="0"/>
                </a:moveTo>
                <a:lnTo>
                  <a:pt x="3158825" y="0"/>
                </a:lnTo>
                <a:lnTo>
                  <a:pt x="3158825" y="1563619"/>
                </a:lnTo>
                <a:lnTo>
                  <a:pt x="0" y="15636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1"/>
          <p:cNvSpPr/>
          <p:nvPr/>
        </p:nvSpPr>
        <p:spPr>
          <a:xfrm rot="-361440">
            <a:off x="13576666" y="-189137"/>
            <a:ext cx="4930724" cy="5116186"/>
          </a:xfrm>
          <a:custGeom>
            <a:rect b="b" l="l" r="r" t="t"/>
            <a:pathLst>
              <a:path extrusionOk="0" h="5113502" w="4928137">
                <a:moveTo>
                  <a:pt x="0" y="0"/>
                </a:moveTo>
                <a:lnTo>
                  <a:pt x="4928137" y="0"/>
                </a:lnTo>
                <a:lnTo>
                  <a:pt x="4928137" y="5113502"/>
                </a:lnTo>
                <a:lnTo>
                  <a:pt x="0" y="5113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1"/>
          <p:cNvSpPr/>
          <p:nvPr/>
        </p:nvSpPr>
        <p:spPr>
          <a:xfrm rot="-1451706">
            <a:off x="13682460" y="3285722"/>
            <a:ext cx="3708819" cy="3715574"/>
          </a:xfrm>
          <a:custGeom>
            <a:rect b="b" l="l" r="r" t="t"/>
            <a:pathLst>
              <a:path extrusionOk="0" h="3714170" w="3707417">
                <a:moveTo>
                  <a:pt x="0" y="0"/>
                </a:moveTo>
                <a:lnTo>
                  <a:pt x="3707417" y="0"/>
                </a:lnTo>
                <a:lnTo>
                  <a:pt x="3707417" y="3714170"/>
                </a:lnTo>
                <a:lnTo>
                  <a:pt x="0" y="3714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/>
          <p:nvPr/>
        </p:nvSpPr>
        <p:spPr>
          <a:xfrm>
            <a:off x="2741050" y="2674550"/>
            <a:ext cx="10622068" cy="2029818"/>
          </a:xfrm>
          <a:custGeom>
            <a:rect b="b" l="l" r="r" t="t"/>
            <a:pathLst>
              <a:path extrusionOk="0" h="510646" w="840686">
                <a:moveTo>
                  <a:pt x="0" y="0"/>
                </a:moveTo>
                <a:lnTo>
                  <a:pt x="840686" y="0"/>
                </a:lnTo>
                <a:lnTo>
                  <a:pt x="840686" y="510646"/>
                </a:lnTo>
                <a:lnTo>
                  <a:pt x="0" y="510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2" name="Google Shape;122;p12"/>
          <p:cNvSpPr/>
          <p:nvPr/>
        </p:nvSpPr>
        <p:spPr>
          <a:xfrm>
            <a:off x="1532600" y="5305375"/>
            <a:ext cx="11083375" cy="2029818"/>
          </a:xfrm>
          <a:custGeom>
            <a:rect b="b" l="l" r="r" t="t"/>
            <a:pathLst>
              <a:path extrusionOk="0" h="510646" w="1278728">
                <a:moveTo>
                  <a:pt x="0" y="0"/>
                </a:moveTo>
                <a:lnTo>
                  <a:pt x="1278728" y="0"/>
                </a:lnTo>
                <a:lnTo>
                  <a:pt x="1278728" y="510646"/>
                </a:lnTo>
                <a:lnTo>
                  <a:pt x="0" y="510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3" name="Google Shape;123;p12"/>
          <p:cNvSpPr txBox="1"/>
          <p:nvPr/>
        </p:nvSpPr>
        <p:spPr>
          <a:xfrm>
            <a:off x="1532600" y="5575575"/>
            <a:ext cx="11083500" cy="17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rPr>
              <a:t> How does runtime and memory usage of K-means, K-medoids, and Hierarchical Agglomerative Clustering scale as input n increases?</a:t>
            </a:r>
            <a:endParaRPr sz="2700">
              <a:solidFill>
                <a:schemeClr val="dk1"/>
              </a:solidFill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2740549" y="8071225"/>
            <a:ext cx="10622068" cy="2029818"/>
          </a:xfrm>
          <a:custGeom>
            <a:rect b="b" l="l" r="r" t="t"/>
            <a:pathLst>
              <a:path extrusionOk="0" h="510646" w="840686">
                <a:moveTo>
                  <a:pt x="0" y="0"/>
                </a:moveTo>
                <a:lnTo>
                  <a:pt x="840686" y="0"/>
                </a:lnTo>
                <a:lnTo>
                  <a:pt x="840686" y="510646"/>
                </a:lnTo>
                <a:lnTo>
                  <a:pt x="0" y="510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5" name="Google Shape;125;p12"/>
          <p:cNvSpPr txBox="1"/>
          <p:nvPr/>
        </p:nvSpPr>
        <p:spPr>
          <a:xfrm>
            <a:off x="2671600" y="8180700"/>
            <a:ext cx="107607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rPr>
              <a:t>For PSO-based clustering, what is the trade-off between solution quality and computational cost as PSO parameters change?</a:t>
            </a:r>
            <a:endParaRPr sz="2700">
              <a:solidFill>
                <a:schemeClr val="dk1"/>
              </a:solidFill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26" name="Google Shape;126;p12"/>
          <p:cNvSpPr/>
          <p:nvPr/>
        </p:nvSpPr>
        <p:spPr>
          <a:xfrm rot="1285720">
            <a:off x="15838817" y="640890"/>
            <a:ext cx="2641752" cy="1757966"/>
          </a:xfrm>
          <a:custGeom>
            <a:rect b="b" l="l" r="r" t="t"/>
            <a:pathLst>
              <a:path extrusionOk="0" h="1759616" w="2644232">
                <a:moveTo>
                  <a:pt x="0" y="0"/>
                </a:moveTo>
                <a:lnTo>
                  <a:pt x="2644232" y="0"/>
                </a:lnTo>
                <a:lnTo>
                  <a:pt x="2644232" y="1759616"/>
                </a:lnTo>
                <a:lnTo>
                  <a:pt x="0" y="175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12"/>
          <p:cNvSpPr txBox="1"/>
          <p:nvPr/>
        </p:nvSpPr>
        <p:spPr>
          <a:xfrm>
            <a:off x="1889658" y="-43750"/>
            <a:ext cx="10158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latin typeface="Just Another Hand"/>
                <a:ea typeface="Just Another Hand"/>
                <a:cs typeface="Just Another Hand"/>
                <a:sym typeface="Just Another Hand"/>
              </a:rPr>
              <a:t>Research Questions</a:t>
            </a:r>
            <a:endParaRPr/>
          </a:p>
        </p:txBody>
      </p:sp>
      <p:sp>
        <p:nvSpPr>
          <p:cNvPr id="128" name="Google Shape;128;p12"/>
          <p:cNvSpPr txBox="1"/>
          <p:nvPr/>
        </p:nvSpPr>
        <p:spPr>
          <a:xfrm>
            <a:off x="1266133" y="5351145"/>
            <a:ext cx="470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7993612" y="5202872"/>
            <a:ext cx="31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11017111" y="10602575"/>
            <a:ext cx="8454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1" name="Google Shape;131;p12"/>
          <p:cNvSpPr txBox="1"/>
          <p:nvPr/>
        </p:nvSpPr>
        <p:spPr>
          <a:xfrm>
            <a:off x="8355562" y="8473440"/>
            <a:ext cx="241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132" name="Google Shape;132;p12"/>
          <p:cNvSpPr/>
          <p:nvPr/>
        </p:nvSpPr>
        <p:spPr>
          <a:xfrm rot="-1828368">
            <a:off x="-165246" y="6875988"/>
            <a:ext cx="3643177" cy="3780656"/>
          </a:xfrm>
          <a:custGeom>
            <a:rect b="b" l="l" r="r" t="t"/>
            <a:pathLst>
              <a:path extrusionOk="0" h="3777894" w="3640516">
                <a:moveTo>
                  <a:pt x="0" y="0"/>
                </a:moveTo>
                <a:lnTo>
                  <a:pt x="3640517" y="0"/>
                </a:lnTo>
                <a:lnTo>
                  <a:pt x="3640517" y="3777894"/>
                </a:lnTo>
                <a:lnTo>
                  <a:pt x="0" y="3777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2"/>
          <p:cNvSpPr txBox="1"/>
          <p:nvPr/>
        </p:nvSpPr>
        <p:spPr>
          <a:xfrm>
            <a:off x="6617350" y="7919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"/>
          <p:cNvSpPr txBox="1"/>
          <p:nvPr/>
        </p:nvSpPr>
        <p:spPr>
          <a:xfrm>
            <a:off x="2741050" y="2670175"/>
            <a:ext cx="104082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rPr>
              <a:t>For fixed input size, how do K-means, k-medoids, and PSO-based clustering trade off solution quality versus runtime as the number of clusters k increases?</a:t>
            </a:r>
            <a:endParaRPr sz="2700"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12616100" y="1497847"/>
            <a:ext cx="2063379" cy="2274265"/>
          </a:xfrm>
          <a:custGeom>
            <a:rect b="b" l="l" r="r" t="t"/>
            <a:pathLst>
              <a:path extrusionOk="0" h="2274265" w="2063379">
                <a:moveTo>
                  <a:pt x="0" y="0"/>
                </a:moveTo>
                <a:lnTo>
                  <a:pt x="2063379" y="0"/>
                </a:lnTo>
                <a:lnTo>
                  <a:pt x="2063379" y="2274266"/>
                </a:lnTo>
                <a:lnTo>
                  <a:pt x="0" y="2274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2"/>
          <p:cNvSpPr/>
          <p:nvPr/>
        </p:nvSpPr>
        <p:spPr>
          <a:xfrm rot="6870904">
            <a:off x="-2642604" y="-2356952"/>
            <a:ext cx="5721424" cy="5542629"/>
          </a:xfrm>
          <a:custGeom>
            <a:rect b="b" l="l" r="r" t="t"/>
            <a:pathLst>
              <a:path extrusionOk="0" h="5541729" w="5720494">
                <a:moveTo>
                  <a:pt x="0" y="0"/>
                </a:moveTo>
                <a:lnTo>
                  <a:pt x="5720495" y="0"/>
                </a:lnTo>
                <a:lnTo>
                  <a:pt x="5720495" y="5541728"/>
                </a:lnTo>
                <a:lnTo>
                  <a:pt x="0" y="5541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2"/>
          <p:cNvSpPr/>
          <p:nvPr/>
        </p:nvSpPr>
        <p:spPr>
          <a:xfrm>
            <a:off x="13149150" y="5541525"/>
            <a:ext cx="5883737" cy="5309763"/>
          </a:xfrm>
          <a:custGeom>
            <a:rect b="b" l="l" r="r" t="t"/>
            <a:pathLst>
              <a:path extrusionOk="0" h="2189593" w="2151275">
                <a:moveTo>
                  <a:pt x="0" y="0"/>
                </a:moveTo>
                <a:lnTo>
                  <a:pt x="2151275" y="0"/>
                </a:lnTo>
                <a:lnTo>
                  <a:pt x="2151275" y="2189593"/>
                </a:lnTo>
                <a:lnTo>
                  <a:pt x="0" y="218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12"/>
          <p:cNvSpPr/>
          <p:nvPr/>
        </p:nvSpPr>
        <p:spPr>
          <a:xfrm>
            <a:off x="15324703" y="6843088"/>
            <a:ext cx="2642057" cy="3031870"/>
          </a:xfrm>
          <a:custGeom>
            <a:rect b="b" l="l" r="r" t="t"/>
            <a:pathLst>
              <a:path extrusionOk="0" h="2031404" w="2084463">
                <a:moveTo>
                  <a:pt x="0" y="0"/>
                </a:moveTo>
                <a:lnTo>
                  <a:pt x="2084463" y="0"/>
                </a:lnTo>
                <a:lnTo>
                  <a:pt x="2084463" y="2031405"/>
                </a:lnTo>
                <a:lnTo>
                  <a:pt x="0" y="2031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12969471" y="-281706"/>
            <a:ext cx="5720494" cy="5541729"/>
          </a:xfrm>
          <a:custGeom>
            <a:rect b="b" l="l" r="r" t="t"/>
            <a:pathLst>
              <a:path extrusionOk="0" h="5541729" w="5720494">
                <a:moveTo>
                  <a:pt x="0" y="0"/>
                </a:moveTo>
                <a:lnTo>
                  <a:pt x="5720495" y="0"/>
                </a:lnTo>
                <a:lnTo>
                  <a:pt x="5720495" y="5541728"/>
                </a:lnTo>
                <a:lnTo>
                  <a:pt x="0" y="5541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3"/>
          <p:cNvSpPr/>
          <p:nvPr/>
        </p:nvSpPr>
        <p:spPr>
          <a:xfrm>
            <a:off x="1077958" y="3497580"/>
            <a:ext cx="5081921" cy="2029409"/>
          </a:xfrm>
          <a:custGeom>
            <a:rect b="b" l="l" r="r" t="t"/>
            <a:pathLst>
              <a:path extrusionOk="0" h="510646" w="1278728">
                <a:moveTo>
                  <a:pt x="0" y="0"/>
                </a:moveTo>
                <a:lnTo>
                  <a:pt x="1278728" y="0"/>
                </a:lnTo>
                <a:lnTo>
                  <a:pt x="1278728" y="510646"/>
                </a:lnTo>
                <a:lnTo>
                  <a:pt x="0" y="510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5" name="Google Shape;145;p13"/>
          <p:cNvSpPr txBox="1"/>
          <p:nvPr/>
        </p:nvSpPr>
        <p:spPr>
          <a:xfrm>
            <a:off x="1077950" y="3034849"/>
            <a:ext cx="5082000" cy="24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latin typeface="Special Elite"/>
                <a:ea typeface="Special Elite"/>
                <a:cs typeface="Special Elite"/>
                <a:sym typeface="Special Elite"/>
              </a:rPr>
              <a:t>Merge</a:t>
            </a:r>
            <a:endParaRPr sz="100"/>
          </a:p>
        </p:txBody>
      </p:sp>
      <p:sp>
        <p:nvSpPr>
          <p:cNvPr id="146" name="Google Shape;146;p13"/>
          <p:cNvSpPr/>
          <p:nvPr/>
        </p:nvSpPr>
        <p:spPr>
          <a:xfrm>
            <a:off x="5306148" y="6212675"/>
            <a:ext cx="4945335" cy="2029818"/>
          </a:xfrm>
          <a:custGeom>
            <a:rect b="b" l="l" r="r" t="t"/>
            <a:pathLst>
              <a:path extrusionOk="0" h="510646" w="840686">
                <a:moveTo>
                  <a:pt x="0" y="0"/>
                </a:moveTo>
                <a:lnTo>
                  <a:pt x="840686" y="0"/>
                </a:lnTo>
                <a:lnTo>
                  <a:pt x="840686" y="510646"/>
                </a:lnTo>
                <a:lnTo>
                  <a:pt x="0" y="510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7" name="Google Shape;147;p13"/>
          <p:cNvSpPr txBox="1"/>
          <p:nvPr/>
        </p:nvSpPr>
        <p:spPr>
          <a:xfrm>
            <a:off x="4685525" y="5981350"/>
            <a:ext cx="6034800" cy="24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latin typeface="Special Elite"/>
                <a:ea typeface="Special Elite"/>
                <a:cs typeface="Special Elite"/>
                <a:sym typeface="Special Elite"/>
              </a:rPr>
              <a:t>Dendrograms</a:t>
            </a:r>
            <a:endParaRPr sz="100"/>
          </a:p>
        </p:txBody>
      </p:sp>
      <p:sp>
        <p:nvSpPr>
          <p:cNvPr id="148" name="Google Shape;148;p13"/>
          <p:cNvSpPr/>
          <p:nvPr/>
        </p:nvSpPr>
        <p:spPr>
          <a:xfrm rot="-905937">
            <a:off x="14407827" y="8098588"/>
            <a:ext cx="4926542" cy="2418484"/>
          </a:xfrm>
          <a:custGeom>
            <a:rect b="b" l="l" r="r" t="t"/>
            <a:pathLst>
              <a:path extrusionOk="0" h="2418484" w="4926542">
                <a:moveTo>
                  <a:pt x="0" y="0"/>
                </a:moveTo>
                <a:lnTo>
                  <a:pt x="4926541" y="0"/>
                </a:lnTo>
                <a:lnTo>
                  <a:pt x="4926541" y="2418484"/>
                </a:lnTo>
                <a:lnTo>
                  <a:pt x="0" y="2418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13"/>
          <p:cNvSpPr/>
          <p:nvPr/>
        </p:nvSpPr>
        <p:spPr>
          <a:xfrm>
            <a:off x="12322853" y="8378492"/>
            <a:ext cx="2644232" cy="1759616"/>
          </a:xfrm>
          <a:custGeom>
            <a:rect b="b" l="l" r="r" t="t"/>
            <a:pathLst>
              <a:path extrusionOk="0" h="1759616" w="2644232">
                <a:moveTo>
                  <a:pt x="0" y="0"/>
                </a:moveTo>
                <a:lnTo>
                  <a:pt x="2644232" y="0"/>
                </a:lnTo>
                <a:lnTo>
                  <a:pt x="2644232" y="1759616"/>
                </a:lnTo>
                <a:lnTo>
                  <a:pt x="0" y="175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3"/>
          <p:cNvSpPr txBox="1"/>
          <p:nvPr/>
        </p:nvSpPr>
        <p:spPr>
          <a:xfrm>
            <a:off x="1077958" y="1219200"/>
            <a:ext cx="10158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latin typeface="Just Another Hand"/>
                <a:ea typeface="Just Another Hand"/>
                <a:cs typeface="Just Another Hand"/>
                <a:sym typeface="Just Another Hand"/>
              </a:rPr>
              <a:t>HAC -Bottom up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1266133" y="5351145"/>
            <a:ext cx="47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starts with n clusters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993612" y="5202872"/>
            <a:ext cx="31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11110036" y="8534950"/>
            <a:ext cx="8454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https://medium.com/@prasanth32888/agglomerative-hierarchical-clustering-ahc-e9e7a48cb042</a:t>
            </a:r>
            <a:endParaRPr sz="1000"/>
          </a:p>
        </p:txBody>
      </p:sp>
      <p:sp>
        <p:nvSpPr>
          <p:cNvPr id="154" name="Google Shape;154;p13"/>
          <p:cNvSpPr txBox="1"/>
          <p:nvPr/>
        </p:nvSpPr>
        <p:spPr>
          <a:xfrm>
            <a:off x="8355562" y="8473440"/>
            <a:ext cx="241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D00"/>
              </a:highlight>
            </a:endParaRPr>
          </a:p>
        </p:txBody>
      </p:sp>
      <p:pic>
        <p:nvPicPr>
          <p:cNvPr id="155" name="Google Shape;155;p13" title="0_848julTIRU1JZYf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20308" y="2943825"/>
            <a:ext cx="7567693" cy="554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 txBox="1"/>
          <p:nvPr/>
        </p:nvSpPr>
        <p:spPr>
          <a:xfrm>
            <a:off x="6617350" y="79193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-&gt;</a:t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 flipH="1">
            <a:off x="-183743" y="6398525"/>
            <a:ext cx="4869256" cy="4032504"/>
          </a:xfrm>
          <a:custGeom>
            <a:rect b="b" l="l" r="r" t="t"/>
            <a:pathLst>
              <a:path extrusionOk="0" h="4114800" w="5006947">
                <a:moveTo>
                  <a:pt x="5006947" y="0"/>
                </a:moveTo>
                <a:lnTo>
                  <a:pt x="0" y="0"/>
                </a:lnTo>
                <a:lnTo>
                  <a:pt x="0" y="4114800"/>
                </a:lnTo>
                <a:lnTo>
                  <a:pt x="5006947" y="4114800"/>
                </a:lnTo>
                <a:lnTo>
                  <a:pt x="500694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4"/>
          <p:cNvGrpSpPr/>
          <p:nvPr/>
        </p:nvGrpSpPr>
        <p:grpSpPr>
          <a:xfrm>
            <a:off x="7474360" y="8797471"/>
            <a:ext cx="4463078" cy="1206143"/>
            <a:chOff x="-841698" y="46792"/>
            <a:chExt cx="1123013" cy="354300"/>
          </a:xfrm>
        </p:grpSpPr>
        <p:sp>
          <p:nvSpPr>
            <p:cNvPr id="163" name="Google Shape;163;p14"/>
            <p:cNvSpPr/>
            <p:nvPr/>
          </p:nvSpPr>
          <p:spPr>
            <a:xfrm>
              <a:off x="-841698" y="56675"/>
              <a:ext cx="1123013" cy="287748"/>
            </a:xfrm>
            <a:custGeom>
              <a:rect b="b" l="l" r="r" t="t"/>
              <a:pathLst>
                <a:path extrusionOk="0" h="287748" w="1123013">
                  <a:moveTo>
                    <a:pt x="0" y="0"/>
                  </a:moveTo>
                  <a:lnTo>
                    <a:pt x="1123013" y="0"/>
                  </a:lnTo>
                  <a:lnTo>
                    <a:pt x="1123013" y="287748"/>
                  </a:lnTo>
                  <a:lnTo>
                    <a:pt x="0" y="2877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4" name="Google Shape;164;p14"/>
            <p:cNvSpPr txBox="1"/>
            <p:nvPr/>
          </p:nvSpPr>
          <p:spPr>
            <a:xfrm>
              <a:off x="-841641" y="46792"/>
              <a:ext cx="1122900" cy="3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0.555495 sec</a:t>
              </a:r>
              <a:endParaRPr/>
            </a:p>
          </p:txBody>
        </p:sp>
      </p:grpSp>
      <p:sp>
        <p:nvSpPr>
          <p:cNvPr id="165" name="Google Shape;165;p14"/>
          <p:cNvSpPr/>
          <p:nvPr/>
        </p:nvSpPr>
        <p:spPr>
          <a:xfrm rot="-648264">
            <a:off x="-1969198" y="-354440"/>
            <a:ext cx="5924718" cy="5299100"/>
          </a:xfrm>
          <a:custGeom>
            <a:rect b="b" l="l" r="r" t="t"/>
            <a:pathLst>
              <a:path extrusionOk="0" h="5297875" w="5923348">
                <a:moveTo>
                  <a:pt x="0" y="0"/>
                </a:moveTo>
                <a:lnTo>
                  <a:pt x="5923348" y="0"/>
                </a:lnTo>
                <a:lnTo>
                  <a:pt x="5923348" y="5297875"/>
                </a:lnTo>
                <a:lnTo>
                  <a:pt x="0" y="5297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4"/>
          <p:cNvSpPr/>
          <p:nvPr/>
        </p:nvSpPr>
        <p:spPr>
          <a:xfrm rot="-361440">
            <a:off x="14344066" y="484588"/>
            <a:ext cx="4930724" cy="5116186"/>
          </a:xfrm>
          <a:custGeom>
            <a:rect b="b" l="l" r="r" t="t"/>
            <a:pathLst>
              <a:path extrusionOk="0" h="5113502" w="4928137">
                <a:moveTo>
                  <a:pt x="0" y="0"/>
                </a:moveTo>
                <a:lnTo>
                  <a:pt x="4928137" y="0"/>
                </a:lnTo>
                <a:lnTo>
                  <a:pt x="4928137" y="5113502"/>
                </a:lnTo>
                <a:lnTo>
                  <a:pt x="0" y="5113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4"/>
          <p:cNvSpPr/>
          <p:nvPr/>
        </p:nvSpPr>
        <p:spPr>
          <a:xfrm rot="-983857">
            <a:off x="268573" y="5841865"/>
            <a:ext cx="2166609" cy="2214934"/>
          </a:xfrm>
          <a:custGeom>
            <a:rect b="b" l="l" r="r" t="t"/>
            <a:pathLst>
              <a:path extrusionOk="0" h="2213378" w="2165087">
                <a:moveTo>
                  <a:pt x="0" y="0"/>
                </a:moveTo>
                <a:lnTo>
                  <a:pt x="2165086" y="0"/>
                </a:lnTo>
                <a:lnTo>
                  <a:pt x="2165086" y="2213378"/>
                </a:lnTo>
                <a:lnTo>
                  <a:pt x="0" y="2213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4"/>
          <p:cNvSpPr txBox="1"/>
          <p:nvPr/>
        </p:nvSpPr>
        <p:spPr>
          <a:xfrm>
            <a:off x="10402700" y="2662300"/>
            <a:ext cx="43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info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7022400" y="8072275"/>
            <a:ext cx="53670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Real Data runtime: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highlight>
                <a:srgbClr val="FFED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1463775" y="5522900"/>
            <a:ext cx="23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" name="Google Shape;171;p14"/>
          <p:cNvSpPr/>
          <p:nvPr/>
        </p:nvSpPr>
        <p:spPr>
          <a:xfrm rot="-1451706">
            <a:off x="15540985" y="7317559"/>
            <a:ext cx="3708819" cy="3715574"/>
          </a:xfrm>
          <a:custGeom>
            <a:rect b="b" l="l" r="r" t="t"/>
            <a:pathLst>
              <a:path extrusionOk="0" h="3714170" w="3707417">
                <a:moveTo>
                  <a:pt x="0" y="0"/>
                </a:moveTo>
                <a:lnTo>
                  <a:pt x="3707417" y="0"/>
                </a:lnTo>
                <a:lnTo>
                  <a:pt x="3707417" y="3714170"/>
                </a:lnTo>
                <a:lnTo>
                  <a:pt x="0" y="3714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72" name="Google Shape;172;p14" title="sinRuntimeHAC100-16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55151" y="476750"/>
            <a:ext cx="7156965" cy="42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4" title="comRuntimeHAC100-160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4132" y="950876"/>
            <a:ext cx="6628270" cy="39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 title="avgRuntimeHAC100-160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5779" y="5156850"/>
            <a:ext cx="6227449" cy="4909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 txBox="1"/>
          <p:nvPr/>
        </p:nvSpPr>
        <p:spPr>
          <a:xfrm>
            <a:off x="12037733" y="1140929"/>
            <a:ext cx="9159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latin typeface="Just Another Hand"/>
                <a:ea typeface="Just Another Hand"/>
                <a:cs typeface="Just Another Hand"/>
                <a:sym typeface="Just Another Hand"/>
              </a:rPr>
              <a:t>Analysis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7474350" y="6175500"/>
            <a:ext cx="6106500" cy="12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O(n^3)</a:t>
            </a:r>
            <a:r>
              <a:rPr lang="en-US" sz="2750">
                <a:solidFill>
                  <a:schemeClr val="dk1"/>
                </a:solidFill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endParaRPr sz="2750">
              <a:solidFill>
                <a:schemeClr val="dk1"/>
              </a:solidFill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13995551" y="4411763"/>
            <a:ext cx="377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code: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7281608" y="5453000"/>
            <a:ext cx="327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Runtime:</a:t>
            </a:r>
            <a:endParaRPr>
              <a:solidFill>
                <a:schemeClr val="dk1"/>
              </a:solidFill>
              <a:highlight>
                <a:srgbClr val="FFED00"/>
              </a:highlight>
            </a:endParaRPr>
          </a:p>
        </p:txBody>
      </p:sp>
      <p:grpSp>
        <p:nvGrpSpPr>
          <p:cNvPr id="179" name="Google Shape;179;p14"/>
          <p:cNvGrpSpPr/>
          <p:nvPr/>
        </p:nvGrpSpPr>
        <p:grpSpPr>
          <a:xfrm>
            <a:off x="13299338" y="5273163"/>
            <a:ext cx="5165528" cy="2164316"/>
            <a:chOff x="241589" y="-12241"/>
            <a:chExt cx="2110446" cy="306300"/>
          </a:xfrm>
        </p:grpSpPr>
        <p:sp>
          <p:nvSpPr>
            <p:cNvPr id="180" name="Google Shape;180;p14"/>
            <p:cNvSpPr/>
            <p:nvPr/>
          </p:nvSpPr>
          <p:spPr>
            <a:xfrm>
              <a:off x="241589" y="-2965"/>
              <a:ext cx="2110446" cy="287748"/>
            </a:xfrm>
            <a:custGeom>
              <a:rect b="b" l="l" r="r" t="t"/>
              <a:pathLst>
                <a:path extrusionOk="0" h="287748" w="2110446">
                  <a:moveTo>
                    <a:pt x="0" y="0"/>
                  </a:moveTo>
                  <a:lnTo>
                    <a:pt x="2110446" y="0"/>
                  </a:lnTo>
                  <a:lnTo>
                    <a:pt x="2110446" y="287748"/>
                  </a:lnTo>
                  <a:lnTo>
                    <a:pt x="0" y="2877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1" name="Google Shape;181;p14"/>
            <p:cNvSpPr txBox="1"/>
            <p:nvPr/>
          </p:nvSpPr>
          <p:spPr>
            <a:xfrm>
              <a:off x="401805" y="-12241"/>
              <a:ext cx="12897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AI generated, tested on exponentially increasing n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5"/>
          <p:cNvGrpSpPr/>
          <p:nvPr/>
        </p:nvGrpSpPr>
        <p:grpSpPr>
          <a:xfrm>
            <a:off x="8143269" y="6988899"/>
            <a:ext cx="9116128" cy="1166315"/>
            <a:chOff x="0" y="-17901"/>
            <a:chExt cx="2293802" cy="293468"/>
          </a:xfrm>
        </p:grpSpPr>
        <p:sp>
          <p:nvSpPr>
            <p:cNvPr id="187" name="Google Shape;187;p15"/>
            <p:cNvSpPr/>
            <p:nvPr/>
          </p:nvSpPr>
          <p:spPr>
            <a:xfrm>
              <a:off x="0" y="0"/>
              <a:ext cx="2293777" cy="275567"/>
            </a:xfrm>
            <a:custGeom>
              <a:rect b="b" l="l" r="r" t="t"/>
              <a:pathLst>
                <a:path extrusionOk="0" h="275567" w="2293777">
                  <a:moveTo>
                    <a:pt x="0" y="0"/>
                  </a:moveTo>
                  <a:lnTo>
                    <a:pt x="2293777" y="0"/>
                  </a:lnTo>
                  <a:lnTo>
                    <a:pt x="2293777" y="275567"/>
                  </a:lnTo>
                  <a:lnTo>
                    <a:pt x="0" y="2755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8" name="Google Shape;188;p15"/>
            <p:cNvSpPr txBox="1"/>
            <p:nvPr/>
          </p:nvSpPr>
          <p:spPr>
            <a:xfrm>
              <a:off x="2" y="-17901"/>
              <a:ext cx="22938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A cluster center</a:t>
              </a:r>
              <a:endParaRPr/>
            </a:p>
          </p:txBody>
        </p:sp>
      </p:grpSp>
      <p:sp>
        <p:nvSpPr>
          <p:cNvPr id="189" name="Google Shape;189;p15"/>
          <p:cNvSpPr/>
          <p:nvPr/>
        </p:nvSpPr>
        <p:spPr>
          <a:xfrm rot="-555399">
            <a:off x="-60437" y="2325797"/>
            <a:ext cx="7082424" cy="7069547"/>
          </a:xfrm>
          <a:custGeom>
            <a:rect b="b" l="l" r="r" t="t"/>
            <a:pathLst>
              <a:path extrusionOk="0" h="7069547" w="7082424">
                <a:moveTo>
                  <a:pt x="0" y="0"/>
                </a:moveTo>
                <a:lnTo>
                  <a:pt x="7082425" y="0"/>
                </a:lnTo>
                <a:lnTo>
                  <a:pt x="7082425" y="7069547"/>
                </a:lnTo>
                <a:lnTo>
                  <a:pt x="0" y="7069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5"/>
          <p:cNvSpPr/>
          <p:nvPr/>
        </p:nvSpPr>
        <p:spPr>
          <a:xfrm rot="-383268">
            <a:off x="-1097706" y="1976777"/>
            <a:ext cx="3195793" cy="1030643"/>
          </a:xfrm>
          <a:custGeom>
            <a:rect b="b" l="l" r="r" t="t"/>
            <a:pathLst>
              <a:path extrusionOk="0" h="1030643" w="3195793">
                <a:moveTo>
                  <a:pt x="0" y="0"/>
                </a:moveTo>
                <a:lnTo>
                  <a:pt x="3195793" y="0"/>
                </a:lnTo>
                <a:lnTo>
                  <a:pt x="3195793" y="1030643"/>
                </a:lnTo>
                <a:lnTo>
                  <a:pt x="0" y="1030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5"/>
          <p:cNvSpPr txBox="1"/>
          <p:nvPr/>
        </p:nvSpPr>
        <p:spPr>
          <a:xfrm>
            <a:off x="8249593" y="2715589"/>
            <a:ext cx="890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ALGORITHM</a:t>
            </a:r>
            <a:r>
              <a:rPr b="0" i="0" lang="en-US" sz="3600" u="none" cap="none" strike="noStrike">
                <a:solidFill>
                  <a:srgbClr val="000000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: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8228440" y="4388604"/>
            <a:ext cx="8945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>
                <a:latin typeface="Just Another Hand"/>
                <a:ea typeface="Just Another Hand"/>
                <a:cs typeface="Just Another Hand"/>
                <a:sym typeface="Just Another Hand"/>
              </a:rPr>
              <a:t>K-Means</a:t>
            </a:r>
            <a:endParaRPr/>
          </a:p>
        </p:txBody>
      </p:sp>
      <p:pic>
        <p:nvPicPr>
          <p:cNvPr id="193" name="Google Shape;193;p15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91460" y="3269699"/>
            <a:ext cx="7544475" cy="557887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5"/>
          <p:cNvSpPr/>
          <p:nvPr/>
        </p:nvSpPr>
        <p:spPr>
          <a:xfrm>
            <a:off x="5650876" y="4051199"/>
            <a:ext cx="2492409" cy="2398944"/>
          </a:xfrm>
          <a:custGeom>
            <a:rect b="b" l="l" r="r" t="t"/>
            <a:pathLst>
              <a:path extrusionOk="0" h="2398944" w="2492409">
                <a:moveTo>
                  <a:pt x="0" y="0"/>
                </a:moveTo>
                <a:lnTo>
                  <a:pt x="2492409" y="0"/>
                </a:lnTo>
                <a:lnTo>
                  <a:pt x="2492409" y="2398943"/>
                </a:lnTo>
                <a:lnTo>
                  <a:pt x="0" y="2398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5"/>
          <p:cNvSpPr txBox="1"/>
          <p:nvPr/>
        </p:nvSpPr>
        <p:spPr>
          <a:xfrm>
            <a:off x="-162650" y="8848575"/>
            <a:ext cx="61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https://www.geeksforgeeks.org/machine-learning/k-means-clustering-introduction/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/>
          <p:nvPr/>
        </p:nvSpPr>
        <p:spPr>
          <a:xfrm flipH="1">
            <a:off x="9749822" y="5355590"/>
            <a:ext cx="5353437" cy="4992080"/>
          </a:xfrm>
          <a:custGeom>
            <a:rect b="b" l="l" r="r" t="t"/>
            <a:pathLst>
              <a:path extrusionOk="0" h="4992080" w="5353437">
                <a:moveTo>
                  <a:pt x="5353437" y="0"/>
                </a:moveTo>
                <a:lnTo>
                  <a:pt x="0" y="0"/>
                </a:lnTo>
                <a:lnTo>
                  <a:pt x="0" y="4992080"/>
                </a:lnTo>
                <a:lnTo>
                  <a:pt x="5353437" y="4992080"/>
                </a:lnTo>
                <a:lnTo>
                  <a:pt x="535343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6"/>
          <p:cNvSpPr txBox="1"/>
          <p:nvPr/>
        </p:nvSpPr>
        <p:spPr>
          <a:xfrm>
            <a:off x="-292750" y="786225"/>
            <a:ext cx="8951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>
                <a:latin typeface="Just Another Hand"/>
                <a:ea typeface="Just Another Hand"/>
                <a:cs typeface="Just Another Hand"/>
                <a:sym typeface="Just Another Hand"/>
              </a:rPr>
              <a:t>Analysis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1028700" y="6256020"/>
            <a:ext cx="45261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AI generated code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Exponential points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6124950" y="6012075"/>
            <a:ext cx="34302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θ</a:t>
            </a:r>
            <a:r>
              <a:rPr lang="en-US" sz="2750">
                <a:solidFill>
                  <a:schemeClr val="dk1"/>
                </a:solidFill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(nkdt) n=points, k=clusters, d=dimensions, t=iterations</a:t>
            </a:r>
            <a:endParaRPr sz="2750">
              <a:solidFill>
                <a:schemeClr val="dk1"/>
              </a:solidFill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028700" y="5076825"/>
            <a:ext cx="4526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Code: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5860686" y="5148400"/>
            <a:ext cx="4235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Runtime/expectations:</a:t>
            </a:r>
            <a:endParaRPr>
              <a:highlight>
                <a:srgbClr val="FFED00"/>
              </a:highlight>
            </a:endParaRPr>
          </a:p>
        </p:txBody>
      </p:sp>
      <p:pic>
        <p:nvPicPr>
          <p:cNvPr id="206" name="Google Shape;206;p16" title="K-means_better.png"/>
          <p:cNvPicPr preferRelativeResize="0"/>
          <p:nvPr/>
        </p:nvPicPr>
        <p:blipFill rotWithShape="1">
          <a:blip r:embed="rId4">
            <a:alphaModFix/>
          </a:blip>
          <a:srcRect b="0" l="1229" r="1219" t="0"/>
          <a:stretch/>
        </p:blipFill>
        <p:spPr>
          <a:xfrm>
            <a:off x="10401650" y="2334788"/>
            <a:ext cx="7879399" cy="605803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/>
          <p:nvPr/>
        </p:nvSpPr>
        <p:spPr>
          <a:xfrm>
            <a:off x="16578688" y="939397"/>
            <a:ext cx="2063379" cy="2274265"/>
          </a:xfrm>
          <a:custGeom>
            <a:rect b="b" l="l" r="r" t="t"/>
            <a:pathLst>
              <a:path extrusionOk="0" h="2274265" w="2063379">
                <a:moveTo>
                  <a:pt x="0" y="0"/>
                </a:moveTo>
                <a:lnTo>
                  <a:pt x="2063379" y="0"/>
                </a:lnTo>
                <a:lnTo>
                  <a:pt x="2063379" y="2274266"/>
                </a:lnTo>
                <a:lnTo>
                  <a:pt x="0" y="2274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6"/>
          <p:cNvSpPr txBox="1"/>
          <p:nvPr/>
        </p:nvSpPr>
        <p:spPr>
          <a:xfrm>
            <a:off x="762300" y="8038525"/>
            <a:ext cx="58506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Real data runtime:</a:t>
            </a:r>
            <a:endParaRPr sz="2799">
              <a:solidFill>
                <a:schemeClr val="dk1"/>
              </a:solidFill>
              <a:highlight>
                <a:srgbClr val="FFED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50">
                <a:solidFill>
                  <a:schemeClr val="dk1"/>
                </a:solidFill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rPr>
              <a:t>0.00046126</a:t>
            </a:r>
            <a:endParaRPr sz="2750">
              <a:solidFill>
                <a:schemeClr val="dk1"/>
              </a:solidFill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dk1"/>
              </a:solidFill>
              <a:highlight>
                <a:schemeClr val="lt1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14332675" y="8217250"/>
            <a:ext cx="4145958" cy="2130430"/>
          </a:xfrm>
          <a:custGeom>
            <a:rect b="b" l="l" r="r" t="t"/>
            <a:pathLst>
              <a:path extrusionOk="0" h="1563618" w="3158825">
                <a:moveTo>
                  <a:pt x="0" y="0"/>
                </a:moveTo>
                <a:lnTo>
                  <a:pt x="3158825" y="0"/>
                </a:lnTo>
                <a:lnTo>
                  <a:pt x="3158825" y="1563619"/>
                </a:lnTo>
                <a:lnTo>
                  <a:pt x="0" y="15636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/>
          <p:nvPr/>
        </p:nvSpPr>
        <p:spPr>
          <a:xfrm rot="-807878">
            <a:off x="-380574" y="2228049"/>
            <a:ext cx="7526775" cy="7453017"/>
          </a:xfrm>
          <a:custGeom>
            <a:rect b="b" l="l" r="r" t="t"/>
            <a:pathLst>
              <a:path extrusionOk="0" h="2211448" w="2211448">
                <a:moveTo>
                  <a:pt x="0" y="0"/>
                </a:moveTo>
                <a:lnTo>
                  <a:pt x="2211448" y="0"/>
                </a:lnTo>
                <a:lnTo>
                  <a:pt x="2211448" y="2211448"/>
                </a:lnTo>
                <a:lnTo>
                  <a:pt x="0" y="2211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5" name="Google Shape;215;p17"/>
          <p:cNvGrpSpPr/>
          <p:nvPr/>
        </p:nvGrpSpPr>
        <p:grpSpPr>
          <a:xfrm>
            <a:off x="8143269" y="6988900"/>
            <a:ext cx="9116026" cy="1166300"/>
            <a:chOff x="0" y="-17901"/>
            <a:chExt cx="2293802" cy="293468"/>
          </a:xfrm>
        </p:grpSpPr>
        <p:sp>
          <p:nvSpPr>
            <p:cNvPr id="216" name="Google Shape;216;p17"/>
            <p:cNvSpPr/>
            <p:nvPr/>
          </p:nvSpPr>
          <p:spPr>
            <a:xfrm>
              <a:off x="0" y="0"/>
              <a:ext cx="2293777" cy="275567"/>
            </a:xfrm>
            <a:custGeom>
              <a:rect b="b" l="l" r="r" t="t"/>
              <a:pathLst>
                <a:path extrusionOk="0" h="275567" w="2293777">
                  <a:moveTo>
                    <a:pt x="0" y="0"/>
                  </a:moveTo>
                  <a:lnTo>
                    <a:pt x="2293777" y="0"/>
                  </a:lnTo>
                  <a:lnTo>
                    <a:pt x="2293777" y="275567"/>
                  </a:lnTo>
                  <a:lnTo>
                    <a:pt x="0" y="2755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7" name="Google Shape;217;p17"/>
            <p:cNvSpPr txBox="1"/>
            <p:nvPr/>
          </p:nvSpPr>
          <p:spPr>
            <a:xfrm>
              <a:off x="2" y="-17901"/>
              <a:ext cx="22938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a real data point</a:t>
              </a:r>
              <a:endParaRPr/>
            </a:p>
          </p:txBody>
        </p:sp>
      </p:grpSp>
      <p:sp>
        <p:nvSpPr>
          <p:cNvPr id="218" name="Google Shape;218;p17"/>
          <p:cNvSpPr txBox="1"/>
          <p:nvPr/>
        </p:nvSpPr>
        <p:spPr>
          <a:xfrm>
            <a:off x="8249593" y="2715589"/>
            <a:ext cx="890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ALGORITHM</a:t>
            </a:r>
            <a:r>
              <a:rPr b="0" i="0" lang="en-US" sz="3600" u="none" cap="none" strike="noStrike">
                <a:solidFill>
                  <a:srgbClr val="000000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: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8228440" y="4388604"/>
            <a:ext cx="8945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>
                <a:latin typeface="Just Another Hand"/>
                <a:ea typeface="Just Another Hand"/>
                <a:cs typeface="Just Another Hand"/>
                <a:sym typeface="Just Another Hand"/>
              </a:rPr>
              <a:t>K-Medoids</a:t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 rot="-531258">
            <a:off x="-585227" y="1893125"/>
            <a:ext cx="3803101" cy="1090192"/>
          </a:xfrm>
          <a:custGeom>
            <a:rect b="b" l="l" r="r" t="t"/>
            <a:pathLst>
              <a:path extrusionOk="0" h="2133814" w="7553325">
                <a:moveTo>
                  <a:pt x="0" y="0"/>
                </a:moveTo>
                <a:lnTo>
                  <a:pt x="7553325" y="0"/>
                </a:lnTo>
                <a:lnTo>
                  <a:pt x="7553325" y="2133815"/>
                </a:lnTo>
                <a:lnTo>
                  <a:pt x="0" y="21338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1" name="Google Shape;221;p17" title="GroupDataIntoTwoClustersKMedoidsExample_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92927" y="3423500"/>
            <a:ext cx="7811250" cy="47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7"/>
          <p:cNvSpPr txBox="1"/>
          <p:nvPr/>
        </p:nvSpPr>
        <p:spPr>
          <a:xfrm>
            <a:off x="277900" y="8124200"/>
            <a:ext cx="409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https://www.mathworks.com/help/stats/kmedoids.html</a:t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 rot="-1424655">
            <a:off x="6583552" y="3820168"/>
            <a:ext cx="2460185" cy="2460185"/>
          </a:xfrm>
          <a:custGeom>
            <a:rect b="b" l="l" r="r" t="t"/>
            <a:pathLst>
              <a:path extrusionOk="0" h="2461131" w="2461131">
                <a:moveTo>
                  <a:pt x="0" y="0"/>
                </a:moveTo>
                <a:lnTo>
                  <a:pt x="2461131" y="0"/>
                </a:lnTo>
                <a:lnTo>
                  <a:pt x="2461131" y="2461130"/>
                </a:lnTo>
                <a:lnTo>
                  <a:pt x="0" y="2461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/>
          <p:nvPr/>
        </p:nvSpPr>
        <p:spPr>
          <a:xfrm flipH="1">
            <a:off x="-228593" y="7277088"/>
            <a:ext cx="4129818" cy="4114800"/>
          </a:xfrm>
          <a:custGeom>
            <a:rect b="b" l="l" r="r" t="t"/>
            <a:pathLst>
              <a:path extrusionOk="0" h="4114800" w="4129818">
                <a:moveTo>
                  <a:pt x="4129818" y="0"/>
                </a:moveTo>
                <a:lnTo>
                  <a:pt x="0" y="0"/>
                </a:lnTo>
                <a:lnTo>
                  <a:pt x="0" y="4114800"/>
                </a:lnTo>
                <a:lnTo>
                  <a:pt x="4129818" y="4114800"/>
                </a:lnTo>
                <a:lnTo>
                  <a:pt x="41298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9" name="Google Shape;229;p18"/>
          <p:cNvGrpSpPr/>
          <p:nvPr/>
        </p:nvGrpSpPr>
        <p:grpSpPr>
          <a:xfrm>
            <a:off x="9702950" y="6175500"/>
            <a:ext cx="8547137" cy="1217328"/>
            <a:chOff x="0" y="-183820"/>
            <a:chExt cx="2363700" cy="306300"/>
          </a:xfrm>
        </p:grpSpPr>
        <p:sp>
          <p:nvSpPr>
            <p:cNvPr id="230" name="Google Shape;230;p18"/>
            <p:cNvSpPr/>
            <p:nvPr/>
          </p:nvSpPr>
          <p:spPr>
            <a:xfrm>
              <a:off x="0" y="-183820"/>
              <a:ext cx="2363700" cy="287748"/>
            </a:xfrm>
            <a:custGeom>
              <a:rect b="b" l="l" r="r" t="t"/>
              <a:pathLst>
                <a:path extrusionOk="0" h="287748" w="2110446">
                  <a:moveTo>
                    <a:pt x="0" y="0"/>
                  </a:moveTo>
                  <a:lnTo>
                    <a:pt x="2110446" y="0"/>
                  </a:lnTo>
                  <a:lnTo>
                    <a:pt x="2110446" y="287748"/>
                  </a:lnTo>
                  <a:lnTo>
                    <a:pt x="0" y="2877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1" name="Google Shape;231;p18"/>
            <p:cNvSpPr txBox="1"/>
            <p:nvPr/>
          </p:nvSpPr>
          <p:spPr>
            <a:xfrm>
              <a:off x="22051" y="-183820"/>
              <a:ext cx="23196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chemeClr val="dk1"/>
                  </a:solidFill>
                  <a:highlight>
                    <a:schemeClr val="lt1"/>
                  </a:highlight>
                  <a:latin typeface="Special Elite"/>
                  <a:ea typeface="Special Elite"/>
                  <a:cs typeface="Special Elite"/>
                  <a:sym typeface="Special Elite"/>
                </a:rPr>
                <a:t>θ(</a:t>
              </a:r>
              <a:r>
                <a:rPr lang="en-US" sz="2750">
                  <a:solidFill>
                    <a:schemeClr val="dk1"/>
                  </a:solidFill>
                  <a:highlight>
                    <a:schemeClr val="lt1"/>
                  </a:highlight>
                  <a:latin typeface="Special Elite"/>
                  <a:ea typeface="Special Elite"/>
                  <a:cs typeface="Special Elite"/>
                  <a:sym typeface="Special Elite"/>
                </a:rPr>
                <a:t>n²kt) n = # of points, k = clusters, and  t = iterations. </a:t>
              </a:r>
              <a:endParaRPr sz="2750">
                <a:solidFill>
                  <a:schemeClr val="dk1"/>
                </a:solidFill>
                <a:highlight>
                  <a:schemeClr val="lt1"/>
                </a:highlight>
                <a:latin typeface="Special Elite"/>
                <a:ea typeface="Special Elite"/>
                <a:cs typeface="Special Elite"/>
                <a:sym typeface="Special Elite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99">
                <a:latin typeface="Special Elite"/>
                <a:ea typeface="Special Elite"/>
                <a:cs typeface="Special Elite"/>
                <a:sym typeface="Special Elite"/>
              </a:endParaRPr>
            </a:p>
          </p:txBody>
        </p:sp>
      </p:grpSp>
      <p:sp>
        <p:nvSpPr>
          <p:cNvPr id="232" name="Google Shape;232;p18"/>
          <p:cNvSpPr txBox="1"/>
          <p:nvPr/>
        </p:nvSpPr>
        <p:spPr>
          <a:xfrm>
            <a:off x="9229801" y="3151950"/>
            <a:ext cx="377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code: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10057209" y="3"/>
            <a:ext cx="8230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>
                <a:latin typeface="Just Another Hand"/>
                <a:ea typeface="Just Another Hand"/>
                <a:cs typeface="Just Another Hand"/>
                <a:sym typeface="Just Another Hand"/>
              </a:rPr>
              <a:t>Analysis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9860070" y="5429150"/>
            <a:ext cx="327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Runtime</a:t>
            </a:r>
            <a:r>
              <a:rPr lang="en-US" sz="3600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:</a:t>
            </a:r>
            <a:endParaRPr>
              <a:solidFill>
                <a:schemeClr val="dk1"/>
              </a:solidFill>
              <a:highlight>
                <a:srgbClr val="FFED00"/>
              </a:highlight>
            </a:endParaRPr>
          </a:p>
        </p:txBody>
      </p:sp>
      <p:pic>
        <p:nvPicPr>
          <p:cNvPr id="235" name="Google Shape;235;p18" title="Screenshot 2026-04-18 1756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300" y="3143324"/>
            <a:ext cx="8909500" cy="6643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/>
          <p:nvPr/>
        </p:nvSpPr>
        <p:spPr>
          <a:xfrm>
            <a:off x="8091350" y="5429149"/>
            <a:ext cx="1611377" cy="5244126"/>
          </a:xfrm>
          <a:custGeom>
            <a:rect b="b" l="l" r="r" t="t"/>
            <a:pathLst>
              <a:path extrusionOk="0" h="5244126" w="1611377">
                <a:moveTo>
                  <a:pt x="0" y="0"/>
                </a:moveTo>
                <a:lnTo>
                  <a:pt x="1611377" y="0"/>
                </a:lnTo>
                <a:lnTo>
                  <a:pt x="1611377" y="5244126"/>
                </a:lnTo>
                <a:lnTo>
                  <a:pt x="0" y="52441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8"/>
          <p:cNvSpPr/>
          <p:nvPr/>
        </p:nvSpPr>
        <p:spPr>
          <a:xfrm flipH="1">
            <a:off x="-226756" y="-433025"/>
            <a:ext cx="4869256" cy="4032504"/>
          </a:xfrm>
          <a:custGeom>
            <a:rect b="b" l="l" r="r" t="t"/>
            <a:pathLst>
              <a:path extrusionOk="0" h="4114800" w="5006947">
                <a:moveTo>
                  <a:pt x="5006947" y="0"/>
                </a:moveTo>
                <a:lnTo>
                  <a:pt x="0" y="0"/>
                </a:lnTo>
                <a:lnTo>
                  <a:pt x="0" y="4114800"/>
                </a:lnTo>
                <a:lnTo>
                  <a:pt x="5006947" y="4114800"/>
                </a:lnTo>
                <a:lnTo>
                  <a:pt x="500694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8" name="Google Shape;238;p18"/>
          <p:cNvGrpSpPr/>
          <p:nvPr/>
        </p:nvGrpSpPr>
        <p:grpSpPr>
          <a:xfrm>
            <a:off x="9781463" y="3764813"/>
            <a:ext cx="8390118" cy="1245940"/>
            <a:chOff x="0" y="-25751"/>
            <a:chExt cx="2138100" cy="313499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2110446" cy="287748"/>
            </a:xfrm>
            <a:custGeom>
              <a:rect b="b" l="l" r="r" t="t"/>
              <a:pathLst>
                <a:path extrusionOk="0" h="287748" w="2110446">
                  <a:moveTo>
                    <a:pt x="0" y="0"/>
                  </a:moveTo>
                  <a:lnTo>
                    <a:pt x="2110446" y="0"/>
                  </a:lnTo>
                  <a:lnTo>
                    <a:pt x="2110446" y="287748"/>
                  </a:lnTo>
                  <a:lnTo>
                    <a:pt x="0" y="2877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0" name="Google Shape;240;p18"/>
            <p:cNvSpPr txBox="1"/>
            <p:nvPr/>
          </p:nvSpPr>
          <p:spPr>
            <a:xfrm>
              <a:off x="0" y="-25751"/>
              <a:ext cx="21381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Synthetically generated code similar to k-means</a:t>
              </a:r>
              <a:endParaRPr/>
            </a:p>
          </p:txBody>
        </p:sp>
      </p:grpSp>
      <p:sp>
        <p:nvSpPr>
          <p:cNvPr id="241" name="Google Shape;241;p18"/>
          <p:cNvSpPr txBox="1"/>
          <p:nvPr/>
        </p:nvSpPr>
        <p:spPr>
          <a:xfrm>
            <a:off x="9860075" y="7645150"/>
            <a:ext cx="56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Real Data runtime:</a:t>
            </a:r>
            <a:endParaRPr/>
          </a:p>
        </p:txBody>
      </p:sp>
      <p:grpSp>
        <p:nvGrpSpPr>
          <p:cNvPr id="242" name="Google Shape;242;p18"/>
          <p:cNvGrpSpPr/>
          <p:nvPr/>
        </p:nvGrpSpPr>
        <p:grpSpPr>
          <a:xfrm>
            <a:off x="9702950" y="8636375"/>
            <a:ext cx="8547137" cy="1217328"/>
            <a:chOff x="0" y="-183820"/>
            <a:chExt cx="2363700" cy="306300"/>
          </a:xfrm>
        </p:grpSpPr>
        <p:sp>
          <p:nvSpPr>
            <p:cNvPr id="243" name="Google Shape;243;p18"/>
            <p:cNvSpPr/>
            <p:nvPr/>
          </p:nvSpPr>
          <p:spPr>
            <a:xfrm>
              <a:off x="0" y="-183820"/>
              <a:ext cx="2363700" cy="287748"/>
            </a:xfrm>
            <a:custGeom>
              <a:rect b="b" l="l" r="r" t="t"/>
              <a:pathLst>
                <a:path extrusionOk="0" h="287748" w="2110446">
                  <a:moveTo>
                    <a:pt x="0" y="0"/>
                  </a:moveTo>
                  <a:lnTo>
                    <a:pt x="2110446" y="0"/>
                  </a:lnTo>
                  <a:lnTo>
                    <a:pt x="2110446" y="287748"/>
                  </a:lnTo>
                  <a:lnTo>
                    <a:pt x="0" y="2877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4" name="Google Shape;244;p18"/>
            <p:cNvSpPr txBox="1"/>
            <p:nvPr/>
          </p:nvSpPr>
          <p:spPr>
            <a:xfrm>
              <a:off x="22051" y="-183820"/>
              <a:ext cx="23196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chemeClr val="dk1"/>
                  </a:solidFill>
                  <a:latin typeface="Special Elite"/>
                  <a:ea typeface="Special Elite"/>
                  <a:cs typeface="Special Elite"/>
                  <a:sym typeface="Special Elite"/>
                </a:rPr>
                <a:t>0.00490905 sec</a:t>
              </a:r>
              <a:endParaRPr sz="275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endParaRPr>
            </a:p>
          </p:txBody>
        </p:sp>
      </p:grpSp>
      <p:sp>
        <p:nvSpPr>
          <p:cNvPr id="245" name="Google Shape;245;p18"/>
          <p:cNvSpPr/>
          <p:nvPr/>
        </p:nvSpPr>
        <p:spPr>
          <a:xfrm rot="361440">
            <a:off x="16363915" y="277981"/>
            <a:ext cx="2166223" cy="2214540"/>
          </a:xfrm>
          <a:custGeom>
            <a:rect b="b" l="l" r="r" t="t"/>
            <a:pathLst>
              <a:path extrusionOk="0" h="2213378" w="2165087">
                <a:moveTo>
                  <a:pt x="0" y="0"/>
                </a:moveTo>
                <a:lnTo>
                  <a:pt x="2165086" y="0"/>
                </a:lnTo>
                <a:lnTo>
                  <a:pt x="2165086" y="2213378"/>
                </a:lnTo>
                <a:lnTo>
                  <a:pt x="0" y="2213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9" title="istockphoto-1340387265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26806">
            <a:off x="-1734463" y="2465255"/>
            <a:ext cx="8964153" cy="71791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19"/>
          <p:cNvGrpSpPr/>
          <p:nvPr/>
        </p:nvGrpSpPr>
        <p:grpSpPr>
          <a:xfrm>
            <a:off x="8143269" y="6988900"/>
            <a:ext cx="9116026" cy="1166300"/>
            <a:chOff x="0" y="-17901"/>
            <a:chExt cx="2293802" cy="293468"/>
          </a:xfrm>
        </p:grpSpPr>
        <p:sp>
          <p:nvSpPr>
            <p:cNvPr id="252" name="Google Shape;252;p19"/>
            <p:cNvSpPr/>
            <p:nvPr/>
          </p:nvSpPr>
          <p:spPr>
            <a:xfrm>
              <a:off x="0" y="0"/>
              <a:ext cx="2293777" cy="275567"/>
            </a:xfrm>
            <a:custGeom>
              <a:rect b="b" l="l" r="r" t="t"/>
              <a:pathLst>
                <a:path extrusionOk="0" h="275567" w="2293777">
                  <a:moveTo>
                    <a:pt x="0" y="0"/>
                  </a:moveTo>
                  <a:lnTo>
                    <a:pt x="2293777" y="0"/>
                  </a:lnTo>
                  <a:lnTo>
                    <a:pt x="2293777" y="275567"/>
                  </a:lnTo>
                  <a:lnTo>
                    <a:pt x="0" y="2755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53" name="Google Shape;253;p19"/>
            <p:cNvSpPr txBox="1"/>
            <p:nvPr/>
          </p:nvSpPr>
          <p:spPr>
            <a:xfrm>
              <a:off x="2" y="-17901"/>
              <a:ext cx="22938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A nature-based algorithm inspired by the movement of bird flocks.</a:t>
              </a:r>
              <a:endParaRPr/>
            </a:p>
          </p:txBody>
        </p:sp>
      </p:grpSp>
      <p:sp>
        <p:nvSpPr>
          <p:cNvPr id="254" name="Google Shape;254;p19"/>
          <p:cNvSpPr txBox="1"/>
          <p:nvPr/>
        </p:nvSpPr>
        <p:spPr>
          <a:xfrm>
            <a:off x="8249593" y="2715589"/>
            <a:ext cx="890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ALGORITHM</a:t>
            </a:r>
            <a:r>
              <a:rPr b="0" i="0" lang="en-US" sz="3600" u="none" cap="none" strike="noStrike">
                <a:solidFill>
                  <a:srgbClr val="000000"/>
                </a:solidFill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: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8228440" y="4388604"/>
            <a:ext cx="8945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>
                <a:latin typeface="Just Another Hand"/>
                <a:ea typeface="Just Another Hand"/>
                <a:cs typeface="Just Another Hand"/>
                <a:sym typeface="Just Another Hand"/>
              </a:rPr>
              <a:t>PSO</a:t>
            </a:r>
            <a:endParaRPr/>
          </a:p>
        </p:txBody>
      </p:sp>
      <p:pic>
        <p:nvPicPr>
          <p:cNvPr id="256" name="Google Shape;256;p19" title="17333210379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33529">
            <a:off x="-1606075" y="2870214"/>
            <a:ext cx="9215199" cy="58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/>
          <p:cNvSpPr/>
          <p:nvPr/>
        </p:nvSpPr>
        <p:spPr>
          <a:xfrm rot="-531258">
            <a:off x="-585227" y="1893125"/>
            <a:ext cx="3803101" cy="1090192"/>
          </a:xfrm>
          <a:custGeom>
            <a:rect b="b" l="l" r="r" t="t"/>
            <a:pathLst>
              <a:path extrusionOk="0" h="2133814" w="7553325">
                <a:moveTo>
                  <a:pt x="0" y="0"/>
                </a:moveTo>
                <a:lnTo>
                  <a:pt x="7553325" y="0"/>
                </a:lnTo>
                <a:lnTo>
                  <a:pt x="7553325" y="2133815"/>
                </a:lnTo>
                <a:lnTo>
                  <a:pt x="0" y="21338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8" name="Google Shape;258;p19" title="pngimg.com - bee_PNG7464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1905" y="4388600"/>
            <a:ext cx="2887890" cy="241078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9"/>
          <p:cNvSpPr txBox="1"/>
          <p:nvPr/>
        </p:nvSpPr>
        <p:spPr>
          <a:xfrm rot="-185259">
            <a:off x="-508222" y="8780278"/>
            <a:ext cx="5285573" cy="3385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https://www.linkedin.com/pulse/particle-swarm-optimization-pso-ali-karazmoodeh-tcbvf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20"/>
          <p:cNvGrpSpPr/>
          <p:nvPr/>
        </p:nvGrpSpPr>
        <p:grpSpPr>
          <a:xfrm>
            <a:off x="9508037" y="5080850"/>
            <a:ext cx="5440282" cy="1206143"/>
            <a:chOff x="2265283" y="-821741"/>
            <a:chExt cx="1368900" cy="354300"/>
          </a:xfrm>
        </p:grpSpPr>
        <p:sp>
          <p:nvSpPr>
            <p:cNvPr id="265" name="Google Shape;265;p20"/>
            <p:cNvSpPr/>
            <p:nvPr/>
          </p:nvSpPr>
          <p:spPr>
            <a:xfrm>
              <a:off x="2287190" y="-788400"/>
              <a:ext cx="1123013" cy="287748"/>
            </a:xfrm>
            <a:custGeom>
              <a:rect b="b" l="l" r="r" t="t"/>
              <a:pathLst>
                <a:path extrusionOk="0" h="287748" w="1123013">
                  <a:moveTo>
                    <a:pt x="0" y="0"/>
                  </a:moveTo>
                  <a:lnTo>
                    <a:pt x="1123013" y="0"/>
                  </a:lnTo>
                  <a:lnTo>
                    <a:pt x="1123013" y="287748"/>
                  </a:lnTo>
                  <a:lnTo>
                    <a:pt x="0" y="2877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6" name="Google Shape;266;p20"/>
            <p:cNvSpPr txBox="1"/>
            <p:nvPr/>
          </p:nvSpPr>
          <p:spPr>
            <a:xfrm>
              <a:off x="2265283" y="-821741"/>
              <a:ext cx="1368900" cy="3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PSO = θ(n · S · t), n = points, S = swarm size, t = iterations </a:t>
              </a:r>
              <a:endParaRPr/>
            </a:p>
          </p:txBody>
        </p:sp>
      </p:grpSp>
      <p:grpSp>
        <p:nvGrpSpPr>
          <p:cNvPr id="267" name="Google Shape;267;p20"/>
          <p:cNvGrpSpPr/>
          <p:nvPr/>
        </p:nvGrpSpPr>
        <p:grpSpPr>
          <a:xfrm>
            <a:off x="9194650" y="2778540"/>
            <a:ext cx="5208301" cy="1206143"/>
            <a:chOff x="595158" y="-1482795"/>
            <a:chExt cx="1310528" cy="354300"/>
          </a:xfrm>
        </p:grpSpPr>
        <p:sp>
          <p:nvSpPr>
            <p:cNvPr id="268" name="Google Shape;268;p20"/>
            <p:cNvSpPr/>
            <p:nvPr/>
          </p:nvSpPr>
          <p:spPr>
            <a:xfrm>
              <a:off x="782673" y="-1449520"/>
              <a:ext cx="1123013" cy="287748"/>
            </a:xfrm>
            <a:custGeom>
              <a:rect b="b" l="l" r="r" t="t"/>
              <a:pathLst>
                <a:path extrusionOk="0" h="287748" w="1123013">
                  <a:moveTo>
                    <a:pt x="0" y="0"/>
                  </a:moveTo>
                  <a:lnTo>
                    <a:pt x="1123013" y="0"/>
                  </a:lnTo>
                  <a:lnTo>
                    <a:pt x="1123013" y="287748"/>
                  </a:lnTo>
                  <a:lnTo>
                    <a:pt x="0" y="2877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9" name="Google Shape;269;p20"/>
            <p:cNvSpPr txBox="1"/>
            <p:nvPr/>
          </p:nvSpPr>
          <p:spPr>
            <a:xfrm>
              <a:off x="595158" y="-1482795"/>
              <a:ext cx="1259400" cy="3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AI generated, fixed swarm size + fixed iterations</a:t>
              </a:r>
              <a:endParaRPr/>
            </a:p>
          </p:txBody>
        </p:sp>
      </p:grpSp>
      <p:grpSp>
        <p:nvGrpSpPr>
          <p:cNvPr id="270" name="Google Shape;270;p20"/>
          <p:cNvGrpSpPr/>
          <p:nvPr/>
        </p:nvGrpSpPr>
        <p:grpSpPr>
          <a:xfrm>
            <a:off x="9595288" y="7661051"/>
            <a:ext cx="5730712" cy="1206143"/>
            <a:chOff x="-796608" y="-48577"/>
            <a:chExt cx="1182932" cy="354300"/>
          </a:xfrm>
        </p:grpSpPr>
        <p:sp>
          <p:nvSpPr>
            <p:cNvPr id="271" name="Google Shape;271;p20"/>
            <p:cNvSpPr/>
            <p:nvPr/>
          </p:nvSpPr>
          <p:spPr>
            <a:xfrm>
              <a:off x="-736689" y="-62"/>
              <a:ext cx="1123013" cy="287748"/>
            </a:xfrm>
            <a:custGeom>
              <a:rect b="b" l="l" r="r" t="t"/>
              <a:pathLst>
                <a:path extrusionOk="0" h="287748" w="1123013">
                  <a:moveTo>
                    <a:pt x="0" y="0"/>
                  </a:moveTo>
                  <a:lnTo>
                    <a:pt x="1123013" y="0"/>
                  </a:lnTo>
                  <a:lnTo>
                    <a:pt x="1123013" y="287748"/>
                  </a:lnTo>
                  <a:lnTo>
                    <a:pt x="0" y="2877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2" name="Google Shape;272;p20"/>
            <p:cNvSpPr txBox="1"/>
            <p:nvPr/>
          </p:nvSpPr>
          <p:spPr>
            <a:xfrm>
              <a:off x="-796608" y="-48577"/>
              <a:ext cx="1122900" cy="3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≈ </a:t>
              </a: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0.249456</a:t>
              </a:r>
              <a:r>
                <a:rPr lang="en-US" sz="2799">
                  <a:latin typeface="Special Elite"/>
                  <a:ea typeface="Special Elite"/>
                  <a:cs typeface="Special Elite"/>
                  <a:sym typeface="Special Elite"/>
                </a:rPr>
                <a:t> seconds (200‑point mall dataset) </a:t>
              </a:r>
              <a:endParaRPr/>
            </a:p>
          </p:txBody>
        </p:sp>
      </p:grpSp>
      <p:sp>
        <p:nvSpPr>
          <p:cNvPr id="273" name="Google Shape;273;p20"/>
          <p:cNvSpPr/>
          <p:nvPr/>
        </p:nvSpPr>
        <p:spPr>
          <a:xfrm rot="-648264">
            <a:off x="-1969198" y="-354440"/>
            <a:ext cx="5924718" cy="5299100"/>
          </a:xfrm>
          <a:custGeom>
            <a:rect b="b" l="l" r="r" t="t"/>
            <a:pathLst>
              <a:path extrusionOk="0" h="5297875" w="5923348">
                <a:moveTo>
                  <a:pt x="0" y="0"/>
                </a:moveTo>
                <a:lnTo>
                  <a:pt x="5923348" y="0"/>
                </a:lnTo>
                <a:lnTo>
                  <a:pt x="5923348" y="5297875"/>
                </a:lnTo>
                <a:lnTo>
                  <a:pt x="0" y="5297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20"/>
          <p:cNvSpPr/>
          <p:nvPr/>
        </p:nvSpPr>
        <p:spPr>
          <a:xfrm>
            <a:off x="13152725" y="-373077"/>
            <a:ext cx="2165087" cy="2213378"/>
          </a:xfrm>
          <a:custGeom>
            <a:rect b="b" l="l" r="r" t="t"/>
            <a:pathLst>
              <a:path extrusionOk="0" h="2213378" w="2165087">
                <a:moveTo>
                  <a:pt x="0" y="0"/>
                </a:moveTo>
                <a:lnTo>
                  <a:pt x="2165086" y="0"/>
                </a:lnTo>
                <a:lnTo>
                  <a:pt x="2165086" y="2213378"/>
                </a:lnTo>
                <a:lnTo>
                  <a:pt x="0" y="2213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20"/>
          <p:cNvSpPr txBox="1"/>
          <p:nvPr/>
        </p:nvSpPr>
        <p:spPr>
          <a:xfrm>
            <a:off x="2815658" y="245254"/>
            <a:ext cx="9159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latin typeface="Just Another Hand"/>
                <a:ea typeface="Just Another Hand"/>
                <a:cs typeface="Just Another Hand"/>
                <a:sym typeface="Just Another Hand"/>
              </a:rPr>
              <a:t>Analysis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9221700" y="2092350"/>
            <a:ext cx="43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Code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9221703" y="4116775"/>
            <a:ext cx="564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Runtime / expextations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9602050" y="6696975"/>
            <a:ext cx="43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rgbClr val="FFED00"/>
                </a:highlight>
                <a:latin typeface="Special Elite"/>
                <a:ea typeface="Special Elite"/>
                <a:cs typeface="Special Elite"/>
                <a:sym typeface="Special Elite"/>
              </a:rPr>
              <a:t>Real Data</a:t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79" name="Google Shape;279;p20"/>
          <p:cNvSpPr/>
          <p:nvPr/>
        </p:nvSpPr>
        <p:spPr>
          <a:xfrm rot="-361440">
            <a:off x="14250391" y="484588"/>
            <a:ext cx="4930724" cy="5116186"/>
          </a:xfrm>
          <a:custGeom>
            <a:rect b="b" l="l" r="r" t="t"/>
            <a:pathLst>
              <a:path extrusionOk="0" h="5113502" w="4928137">
                <a:moveTo>
                  <a:pt x="0" y="0"/>
                </a:moveTo>
                <a:lnTo>
                  <a:pt x="4928137" y="0"/>
                </a:lnTo>
                <a:lnTo>
                  <a:pt x="4928137" y="5113502"/>
                </a:lnTo>
                <a:lnTo>
                  <a:pt x="0" y="5113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80" name="Google Shape;28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050" y="5153100"/>
            <a:ext cx="7437901" cy="464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/>
          <p:nvPr/>
        </p:nvSpPr>
        <p:spPr>
          <a:xfrm>
            <a:off x="2741050" y="2674550"/>
            <a:ext cx="10622068" cy="2029818"/>
          </a:xfrm>
          <a:custGeom>
            <a:rect b="b" l="l" r="r" t="t"/>
            <a:pathLst>
              <a:path extrusionOk="0" h="510646" w="840686">
                <a:moveTo>
                  <a:pt x="0" y="0"/>
                </a:moveTo>
                <a:lnTo>
                  <a:pt x="840686" y="0"/>
                </a:lnTo>
                <a:lnTo>
                  <a:pt x="840686" y="510646"/>
                </a:lnTo>
                <a:lnTo>
                  <a:pt x="0" y="510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6" name="Google Shape;286;p21"/>
          <p:cNvSpPr/>
          <p:nvPr/>
        </p:nvSpPr>
        <p:spPr>
          <a:xfrm>
            <a:off x="1532600" y="5305375"/>
            <a:ext cx="11083375" cy="2029818"/>
          </a:xfrm>
          <a:custGeom>
            <a:rect b="b" l="l" r="r" t="t"/>
            <a:pathLst>
              <a:path extrusionOk="0" h="510646" w="1278728">
                <a:moveTo>
                  <a:pt x="0" y="0"/>
                </a:moveTo>
                <a:lnTo>
                  <a:pt x="1278728" y="0"/>
                </a:lnTo>
                <a:lnTo>
                  <a:pt x="1278728" y="510646"/>
                </a:lnTo>
                <a:lnTo>
                  <a:pt x="0" y="510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7" name="Google Shape;287;p21"/>
          <p:cNvSpPr txBox="1"/>
          <p:nvPr/>
        </p:nvSpPr>
        <p:spPr>
          <a:xfrm>
            <a:off x="1532600" y="5877513"/>
            <a:ext cx="11366100" cy="14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Special Elite"/>
                <a:ea typeface="Special Elite"/>
                <a:cs typeface="Special Elite"/>
                <a:sym typeface="Special Elite"/>
              </a:rPr>
              <a:t>K-means scales the best O(n)</a:t>
            </a:r>
            <a:endParaRPr sz="2700"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Special Elite"/>
                <a:ea typeface="Special Elite"/>
                <a:cs typeface="Special Elite"/>
                <a:sym typeface="Special Elite"/>
              </a:rPr>
              <a:t>K-medoids is worst but more robust O(n^2)</a:t>
            </a:r>
            <a:br>
              <a:rPr lang="en-US" sz="2700">
                <a:latin typeface="Special Elite"/>
                <a:ea typeface="Special Elite"/>
                <a:cs typeface="Special Elite"/>
                <a:sym typeface="Special Elite"/>
              </a:rPr>
            </a:br>
            <a:r>
              <a:rPr lang="en-US" sz="2700">
                <a:latin typeface="Special Elite"/>
                <a:ea typeface="Special Elite"/>
                <a:cs typeface="Special Elite"/>
                <a:sym typeface="Special Elite"/>
              </a:rPr>
              <a:t>HAC has the </a:t>
            </a:r>
            <a:r>
              <a:rPr lang="en-US" sz="2700">
                <a:latin typeface="Special Elite"/>
                <a:ea typeface="Special Elite"/>
                <a:cs typeface="Special Elite"/>
                <a:sym typeface="Special Elite"/>
              </a:rPr>
              <a:t>worst efficiency</a:t>
            </a:r>
            <a:endParaRPr sz="2700"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2740549" y="8071225"/>
            <a:ext cx="10622068" cy="2029818"/>
          </a:xfrm>
          <a:custGeom>
            <a:rect b="b" l="l" r="r" t="t"/>
            <a:pathLst>
              <a:path extrusionOk="0" h="510646" w="840686">
                <a:moveTo>
                  <a:pt x="0" y="0"/>
                </a:moveTo>
                <a:lnTo>
                  <a:pt x="840686" y="0"/>
                </a:lnTo>
                <a:lnTo>
                  <a:pt x="840686" y="510646"/>
                </a:lnTo>
                <a:lnTo>
                  <a:pt x="0" y="510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9" name="Google Shape;289;p21"/>
          <p:cNvSpPr txBox="1"/>
          <p:nvPr/>
        </p:nvSpPr>
        <p:spPr>
          <a:xfrm>
            <a:off x="2671600" y="8180700"/>
            <a:ext cx="107607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rPr>
              <a:t>The trade-off is linear. Changing the perameters to get a better output raise the runtime and computational costs</a:t>
            </a:r>
            <a:endParaRPr sz="2700">
              <a:solidFill>
                <a:schemeClr val="dk1"/>
              </a:solidFill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290" name="Google Shape;290;p21"/>
          <p:cNvSpPr/>
          <p:nvPr/>
        </p:nvSpPr>
        <p:spPr>
          <a:xfrm rot="1285720">
            <a:off x="15838817" y="640890"/>
            <a:ext cx="2641752" cy="1757966"/>
          </a:xfrm>
          <a:custGeom>
            <a:rect b="b" l="l" r="r" t="t"/>
            <a:pathLst>
              <a:path extrusionOk="0" h="1759616" w="2644232">
                <a:moveTo>
                  <a:pt x="0" y="0"/>
                </a:moveTo>
                <a:lnTo>
                  <a:pt x="2644232" y="0"/>
                </a:lnTo>
                <a:lnTo>
                  <a:pt x="2644232" y="1759616"/>
                </a:lnTo>
                <a:lnTo>
                  <a:pt x="0" y="175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1"/>
          <p:cNvSpPr txBox="1"/>
          <p:nvPr/>
        </p:nvSpPr>
        <p:spPr>
          <a:xfrm>
            <a:off x="1889658" y="-43750"/>
            <a:ext cx="10158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latin typeface="Just Another Hand"/>
                <a:ea typeface="Just Another Hand"/>
                <a:cs typeface="Just Another Hand"/>
                <a:sym typeface="Just Another Hand"/>
              </a:rPr>
              <a:t>Research Answers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1266133" y="5351145"/>
            <a:ext cx="470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7993612" y="5202872"/>
            <a:ext cx="31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1017111" y="10602575"/>
            <a:ext cx="8454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95" name="Google Shape;295;p21"/>
          <p:cNvSpPr txBox="1"/>
          <p:nvPr/>
        </p:nvSpPr>
        <p:spPr>
          <a:xfrm>
            <a:off x="8355562" y="8473440"/>
            <a:ext cx="241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296" name="Google Shape;296;p21"/>
          <p:cNvSpPr/>
          <p:nvPr/>
        </p:nvSpPr>
        <p:spPr>
          <a:xfrm rot="-1828368">
            <a:off x="-165246" y="6875988"/>
            <a:ext cx="3643177" cy="3780656"/>
          </a:xfrm>
          <a:custGeom>
            <a:rect b="b" l="l" r="r" t="t"/>
            <a:pathLst>
              <a:path extrusionOk="0" h="3777894" w="3640516">
                <a:moveTo>
                  <a:pt x="0" y="0"/>
                </a:moveTo>
                <a:lnTo>
                  <a:pt x="3640517" y="0"/>
                </a:lnTo>
                <a:lnTo>
                  <a:pt x="3640517" y="3777894"/>
                </a:lnTo>
                <a:lnTo>
                  <a:pt x="0" y="3777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21"/>
          <p:cNvSpPr txBox="1"/>
          <p:nvPr/>
        </p:nvSpPr>
        <p:spPr>
          <a:xfrm>
            <a:off x="6617350" y="7919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2741050" y="2670175"/>
            <a:ext cx="104082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rPr>
              <a:t>K-means is fastest, but least </a:t>
            </a:r>
            <a:r>
              <a:rPr lang="en-US" sz="270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rPr>
              <a:t>efficient</a:t>
            </a:r>
            <a:r>
              <a:rPr lang="en-US" sz="270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rPr>
              <a:t>.</a:t>
            </a:r>
            <a:endParaRPr sz="2700">
              <a:solidFill>
                <a:schemeClr val="dk1"/>
              </a:solidFill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rPr>
              <a:t>K-medoids better clusters, but slower</a:t>
            </a:r>
            <a:endParaRPr sz="2700">
              <a:solidFill>
                <a:schemeClr val="dk1"/>
              </a:solidFill>
              <a:latin typeface="Special Elite"/>
              <a:ea typeface="Special Elite"/>
              <a:cs typeface="Special Elite"/>
              <a:sym typeface="Special Elit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rPr>
              <a:t>PSO gives the best solution but takes far longer</a:t>
            </a:r>
            <a:endParaRPr sz="2700">
              <a:solidFill>
                <a:schemeClr val="dk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12616100" y="1497847"/>
            <a:ext cx="2063379" cy="2274265"/>
          </a:xfrm>
          <a:custGeom>
            <a:rect b="b" l="l" r="r" t="t"/>
            <a:pathLst>
              <a:path extrusionOk="0" h="2274265" w="2063379">
                <a:moveTo>
                  <a:pt x="0" y="0"/>
                </a:moveTo>
                <a:lnTo>
                  <a:pt x="2063379" y="0"/>
                </a:lnTo>
                <a:lnTo>
                  <a:pt x="2063379" y="2274266"/>
                </a:lnTo>
                <a:lnTo>
                  <a:pt x="0" y="2274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21"/>
          <p:cNvSpPr/>
          <p:nvPr/>
        </p:nvSpPr>
        <p:spPr>
          <a:xfrm rot="6870904">
            <a:off x="-2642604" y="-2356952"/>
            <a:ext cx="5721424" cy="5542629"/>
          </a:xfrm>
          <a:custGeom>
            <a:rect b="b" l="l" r="r" t="t"/>
            <a:pathLst>
              <a:path extrusionOk="0" h="5541729" w="5720494">
                <a:moveTo>
                  <a:pt x="0" y="0"/>
                </a:moveTo>
                <a:lnTo>
                  <a:pt x="5720495" y="0"/>
                </a:lnTo>
                <a:lnTo>
                  <a:pt x="5720495" y="5541728"/>
                </a:lnTo>
                <a:lnTo>
                  <a:pt x="0" y="5541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21"/>
          <p:cNvSpPr/>
          <p:nvPr/>
        </p:nvSpPr>
        <p:spPr>
          <a:xfrm>
            <a:off x="13149150" y="5541525"/>
            <a:ext cx="5883737" cy="5309763"/>
          </a:xfrm>
          <a:custGeom>
            <a:rect b="b" l="l" r="r" t="t"/>
            <a:pathLst>
              <a:path extrusionOk="0" h="2189593" w="2151275">
                <a:moveTo>
                  <a:pt x="0" y="0"/>
                </a:moveTo>
                <a:lnTo>
                  <a:pt x="2151275" y="0"/>
                </a:lnTo>
                <a:lnTo>
                  <a:pt x="2151275" y="2189593"/>
                </a:lnTo>
                <a:lnTo>
                  <a:pt x="0" y="218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21"/>
          <p:cNvSpPr/>
          <p:nvPr/>
        </p:nvSpPr>
        <p:spPr>
          <a:xfrm>
            <a:off x="15324703" y="6843088"/>
            <a:ext cx="2642057" cy="3031870"/>
          </a:xfrm>
          <a:custGeom>
            <a:rect b="b" l="l" r="r" t="t"/>
            <a:pathLst>
              <a:path extrusionOk="0" h="2031404" w="2084463">
                <a:moveTo>
                  <a:pt x="0" y="0"/>
                </a:moveTo>
                <a:lnTo>
                  <a:pt x="2084463" y="0"/>
                </a:lnTo>
                <a:lnTo>
                  <a:pt x="2084463" y="2031405"/>
                </a:lnTo>
                <a:lnTo>
                  <a:pt x="0" y="2031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22"/>
          <p:cNvGrpSpPr/>
          <p:nvPr/>
        </p:nvGrpSpPr>
        <p:grpSpPr>
          <a:xfrm>
            <a:off x="-1276322" y="-76327"/>
            <a:ext cx="20840643" cy="10439654"/>
            <a:chOff x="0" y="0"/>
            <a:chExt cx="27787524" cy="13919539"/>
          </a:xfrm>
        </p:grpSpPr>
        <p:sp>
          <p:nvSpPr>
            <p:cNvPr id="308" name="Google Shape;308;p22"/>
            <p:cNvSpPr/>
            <p:nvPr/>
          </p:nvSpPr>
          <p:spPr>
            <a:xfrm>
              <a:off x="0" y="0"/>
              <a:ext cx="13919539" cy="13919539"/>
            </a:xfrm>
            <a:custGeom>
              <a:rect b="b" l="l" r="r" t="t"/>
              <a:pathLst>
                <a:path extrusionOk="0" h="13919539" w="13919539">
                  <a:moveTo>
                    <a:pt x="0" y="0"/>
                  </a:moveTo>
                  <a:lnTo>
                    <a:pt x="13919539" y="0"/>
                  </a:lnTo>
                  <a:lnTo>
                    <a:pt x="13919539" y="13919539"/>
                  </a:lnTo>
                  <a:lnTo>
                    <a:pt x="0" y="13919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9" name="Google Shape;309;p22"/>
            <p:cNvSpPr/>
            <p:nvPr/>
          </p:nvSpPr>
          <p:spPr>
            <a:xfrm>
              <a:off x="13867985" y="0"/>
              <a:ext cx="13919539" cy="13919539"/>
            </a:xfrm>
            <a:custGeom>
              <a:rect b="b" l="l" r="r" t="t"/>
              <a:pathLst>
                <a:path extrusionOk="0" h="13919539" w="13919539">
                  <a:moveTo>
                    <a:pt x="0" y="0"/>
                  </a:moveTo>
                  <a:lnTo>
                    <a:pt x="13919539" y="0"/>
                  </a:lnTo>
                  <a:lnTo>
                    <a:pt x="13919539" y="13919539"/>
                  </a:lnTo>
                  <a:lnTo>
                    <a:pt x="0" y="13919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310" name="Google Shape;310;p22" title="Screenshot 2026-04-23 1721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7725" y="1709598"/>
            <a:ext cx="16375401" cy="812965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/>
        </p:nvSpPr>
        <p:spPr>
          <a:xfrm>
            <a:off x="3343049" y="2716647"/>
            <a:ext cx="116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14773860" y="642812"/>
            <a:ext cx="5801396" cy="5901263"/>
          </a:xfrm>
          <a:custGeom>
            <a:rect b="b" l="l" r="r" t="t"/>
            <a:pathLst>
              <a:path extrusionOk="0" h="5901263" w="5801396">
                <a:moveTo>
                  <a:pt x="0" y="0"/>
                </a:moveTo>
                <a:lnTo>
                  <a:pt x="5801395" y="0"/>
                </a:lnTo>
                <a:lnTo>
                  <a:pt x="5801395" y="5901264"/>
                </a:lnTo>
                <a:lnTo>
                  <a:pt x="0" y="5901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22"/>
          <p:cNvSpPr/>
          <p:nvPr/>
        </p:nvSpPr>
        <p:spPr>
          <a:xfrm rot="1130646">
            <a:off x="13877555" y="7213153"/>
            <a:ext cx="3707417" cy="3714170"/>
          </a:xfrm>
          <a:custGeom>
            <a:rect b="b" l="l" r="r" t="t"/>
            <a:pathLst>
              <a:path extrusionOk="0" h="3714170" w="3707417">
                <a:moveTo>
                  <a:pt x="0" y="0"/>
                </a:moveTo>
                <a:lnTo>
                  <a:pt x="3707417" y="0"/>
                </a:lnTo>
                <a:lnTo>
                  <a:pt x="3707417" y="3714170"/>
                </a:lnTo>
                <a:lnTo>
                  <a:pt x="0" y="3714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22"/>
          <p:cNvSpPr/>
          <p:nvPr/>
        </p:nvSpPr>
        <p:spPr>
          <a:xfrm rot="419384">
            <a:off x="-108764" y="-227330"/>
            <a:ext cx="3640516" cy="3777894"/>
          </a:xfrm>
          <a:custGeom>
            <a:rect b="b" l="l" r="r" t="t"/>
            <a:pathLst>
              <a:path extrusionOk="0" h="3777894" w="3640516">
                <a:moveTo>
                  <a:pt x="0" y="0"/>
                </a:moveTo>
                <a:lnTo>
                  <a:pt x="3640517" y="0"/>
                </a:lnTo>
                <a:lnTo>
                  <a:pt x="3640517" y="3777894"/>
                </a:lnTo>
                <a:lnTo>
                  <a:pt x="0" y="3777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2"/>
          <p:cNvSpPr/>
          <p:nvPr/>
        </p:nvSpPr>
        <p:spPr>
          <a:xfrm rot="223988">
            <a:off x="6917808" y="-1501709"/>
            <a:ext cx="7553325" cy="2133814"/>
          </a:xfrm>
          <a:custGeom>
            <a:rect b="b" l="l" r="r" t="t"/>
            <a:pathLst>
              <a:path extrusionOk="0" h="2133814" w="7553325">
                <a:moveTo>
                  <a:pt x="0" y="0"/>
                </a:moveTo>
                <a:lnTo>
                  <a:pt x="7553325" y="0"/>
                </a:lnTo>
                <a:lnTo>
                  <a:pt x="7553325" y="2133815"/>
                </a:lnTo>
                <a:lnTo>
                  <a:pt x="0" y="21338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22"/>
          <p:cNvSpPr/>
          <p:nvPr/>
        </p:nvSpPr>
        <p:spPr>
          <a:xfrm rot="-505868">
            <a:off x="-1547735" y="5076796"/>
            <a:ext cx="5609421" cy="4950314"/>
          </a:xfrm>
          <a:custGeom>
            <a:rect b="b" l="l" r="r" t="t"/>
            <a:pathLst>
              <a:path extrusionOk="0" h="4950314" w="5609421">
                <a:moveTo>
                  <a:pt x="0" y="0"/>
                </a:moveTo>
                <a:lnTo>
                  <a:pt x="5609421" y="0"/>
                </a:lnTo>
                <a:lnTo>
                  <a:pt x="5609421" y="4950314"/>
                </a:lnTo>
                <a:lnTo>
                  <a:pt x="0" y="4950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22"/>
          <p:cNvSpPr/>
          <p:nvPr/>
        </p:nvSpPr>
        <p:spPr>
          <a:xfrm rot="-311945">
            <a:off x="6606929" y="8476517"/>
            <a:ext cx="5074142" cy="2511700"/>
          </a:xfrm>
          <a:custGeom>
            <a:rect b="b" l="l" r="r" t="t"/>
            <a:pathLst>
              <a:path extrusionOk="0" h="2511700" w="5074142">
                <a:moveTo>
                  <a:pt x="0" y="0"/>
                </a:moveTo>
                <a:lnTo>
                  <a:pt x="5074142" y="0"/>
                </a:lnTo>
                <a:lnTo>
                  <a:pt x="5074142" y="2511700"/>
                </a:lnTo>
                <a:lnTo>
                  <a:pt x="0" y="2511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2"/>
          <p:cNvSpPr txBox="1"/>
          <p:nvPr/>
        </p:nvSpPr>
        <p:spPr>
          <a:xfrm>
            <a:off x="3658583" y="4"/>
            <a:ext cx="9159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latin typeface="Just Another Hand"/>
                <a:ea typeface="Just Another Hand"/>
                <a:cs typeface="Just Another Hand"/>
                <a:sym typeface="Just Another Hand"/>
              </a:rPr>
              <a:t>Work Split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0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23"/>
          <p:cNvGrpSpPr/>
          <p:nvPr/>
        </p:nvGrpSpPr>
        <p:grpSpPr>
          <a:xfrm>
            <a:off x="-1276322" y="-76327"/>
            <a:ext cx="20840643" cy="10439654"/>
            <a:chOff x="0" y="0"/>
            <a:chExt cx="27787524" cy="13919539"/>
          </a:xfrm>
        </p:grpSpPr>
        <p:sp>
          <p:nvSpPr>
            <p:cNvPr id="324" name="Google Shape;324;p23"/>
            <p:cNvSpPr/>
            <p:nvPr/>
          </p:nvSpPr>
          <p:spPr>
            <a:xfrm>
              <a:off x="0" y="0"/>
              <a:ext cx="13919539" cy="13919539"/>
            </a:xfrm>
            <a:custGeom>
              <a:rect b="b" l="l" r="r" t="t"/>
              <a:pathLst>
                <a:path extrusionOk="0" h="13919539" w="13919539">
                  <a:moveTo>
                    <a:pt x="0" y="0"/>
                  </a:moveTo>
                  <a:lnTo>
                    <a:pt x="13919539" y="0"/>
                  </a:lnTo>
                  <a:lnTo>
                    <a:pt x="13919539" y="13919539"/>
                  </a:lnTo>
                  <a:lnTo>
                    <a:pt x="0" y="13919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5" name="Google Shape;325;p23"/>
            <p:cNvSpPr/>
            <p:nvPr/>
          </p:nvSpPr>
          <p:spPr>
            <a:xfrm>
              <a:off x="13867985" y="0"/>
              <a:ext cx="13919539" cy="13919539"/>
            </a:xfrm>
            <a:custGeom>
              <a:rect b="b" l="l" r="r" t="t"/>
              <a:pathLst>
                <a:path extrusionOk="0" h="13919539" w="13919539">
                  <a:moveTo>
                    <a:pt x="0" y="0"/>
                  </a:moveTo>
                  <a:lnTo>
                    <a:pt x="13919539" y="0"/>
                  </a:lnTo>
                  <a:lnTo>
                    <a:pt x="13919539" y="13919539"/>
                  </a:lnTo>
                  <a:lnTo>
                    <a:pt x="0" y="13919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26" name="Google Shape;326;p23"/>
          <p:cNvSpPr/>
          <p:nvPr/>
        </p:nvSpPr>
        <p:spPr>
          <a:xfrm>
            <a:off x="687059" y="594063"/>
            <a:ext cx="5520631" cy="1233880"/>
          </a:xfrm>
          <a:custGeom>
            <a:rect b="b" l="l" r="r" t="t"/>
            <a:pathLst>
              <a:path extrusionOk="0" h="358686" w="684093">
                <a:moveTo>
                  <a:pt x="0" y="0"/>
                </a:moveTo>
                <a:lnTo>
                  <a:pt x="684093" y="0"/>
                </a:lnTo>
                <a:lnTo>
                  <a:pt x="684093" y="358686"/>
                </a:lnTo>
                <a:lnTo>
                  <a:pt x="0" y="3586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7" name="Google Shape;327;p23"/>
          <p:cNvSpPr txBox="1"/>
          <p:nvPr/>
        </p:nvSpPr>
        <p:spPr>
          <a:xfrm>
            <a:off x="687050" y="502400"/>
            <a:ext cx="5520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latin typeface="Special Elite"/>
                <a:ea typeface="Special Elite"/>
                <a:cs typeface="Special Elite"/>
                <a:sym typeface="Special Elite"/>
              </a:rPr>
              <a:t>sources:</a:t>
            </a:r>
            <a:endParaRPr sz="5500"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10715776" y="1033925"/>
            <a:ext cx="8106156" cy="8229600"/>
          </a:xfrm>
          <a:custGeom>
            <a:rect b="b" l="l" r="r" t="t"/>
            <a:pathLst>
              <a:path extrusionOk="0" h="8229600" w="8106156">
                <a:moveTo>
                  <a:pt x="0" y="0"/>
                </a:moveTo>
                <a:lnTo>
                  <a:pt x="8106156" y="0"/>
                </a:lnTo>
                <a:lnTo>
                  <a:pt x="8106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23"/>
          <p:cNvSpPr txBox="1"/>
          <p:nvPr/>
        </p:nvSpPr>
        <p:spPr>
          <a:xfrm>
            <a:off x="384709" y="5541617"/>
            <a:ext cx="1011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D00"/>
              </a:highlight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622650" y="2114100"/>
            <a:ext cx="789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https://www.kaggle.com/datasets/shwetabh123/mall-customers</a:t>
            </a:r>
            <a:endParaRPr sz="2000"/>
          </a:p>
        </p:txBody>
      </p:sp>
      <p:sp>
        <p:nvSpPr>
          <p:cNvPr id="331" name="Google Shape;331;p23"/>
          <p:cNvSpPr txBox="1"/>
          <p:nvPr/>
        </p:nvSpPr>
        <p:spPr>
          <a:xfrm>
            <a:off x="622650" y="2739700"/>
            <a:ext cx="767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https://www.meta-chart.com</a:t>
            </a:r>
            <a:endParaRPr sz="2000"/>
          </a:p>
        </p:txBody>
      </p:sp>
      <p:sp>
        <p:nvSpPr>
          <p:cNvPr id="332" name="Google Shape;332;p23"/>
          <p:cNvSpPr txBox="1"/>
          <p:nvPr/>
        </p:nvSpPr>
        <p:spPr>
          <a:xfrm>
            <a:off x="622650" y="3330400"/>
            <a:ext cx="750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https://www.geeksforgeeks.org/machine-learning/k-means-clustering-introduction/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687050" y="4228900"/>
            <a:ext cx="7898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https://www.geeksforgeeks.org/machine-learning/k-medoids-clustering-in-machine-learning/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687050" y="5249125"/>
            <a:ext cx="8409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https://www.geeksforgeeks.org/machine-learning/k-means-vs-k-medoids-clustering/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